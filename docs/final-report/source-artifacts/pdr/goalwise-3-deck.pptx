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23"/>
  </p:notesMasterIdLst>
  <p:handoutMasterIdLst>
    <p:handoutMasterId r:id="rId24"/>
  </p:handoutMasterIdLst>
  <p:sldIdLst>
    <p:sldId id="1537" r:id="rId5"/>
    <p:sldId id="1499" r:id="rId6"/>
    <p:sldId id="1540" r:id="rId7"/>
    <p:sldId id="1529" r:id="rId8"/>
    <p:sldId id="1524" r:id="rId9"/>
    <p:sldId id="1534" r:id="rId10"/>
    <p:sldId id="1502" r:id="rId11"/>
    <p:sldId id="1517" r:id="rId12"/>
    <p:sldId id="1522" r:id="rId13"/>
    <p:sldId id="1541" r:id="rId14"/>
    <p:sldId id="1527" r:id="rId15"/>
    <p:sldId id="1528" r:id="rId16"/>
    <p:sldId id="1530" r:id="rId17"/>
    <p:sldId id="1531" r:id="rId18"/>
    <p:sldId id="1533" r:id="rId19"/>
    <p:sldId id="1536" r:id="rId20"/>
    <p:sldId id="1539" r:id="rId21"/>
    <p:sldId id="151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A1F83-EFD2-5F93-CB86-8CB35C71DF76}" v="30" dt="2026-08-01T19:32:35.564"/>
    <p1510:client id="{0677CA15-4252-5F38-CD67-5FBB98B2C4EA}" v="100" dt="2026-08-01T02:21:17.994"/>
    <p1510:client id="{203E7B8F-39E4-B7E3-46E8-99D81ABBA0B9}" v="5" dt="2026-08-01T06:50:28.668"/>
    <p1510:client id="{48122900-35D0-363C-AEC5-B6D360108F83}" v="4" dt="2026-08-01T06:17:10.547"/>
    <p1510:client id="{4AFB46FF-55D5-E39E-68FE-393A12D5E0A5}" v="4815" dt="2026-08-01T06:04:45.944"/>
    <p1510:client id="{50477440-B8F7-F4B7-67D1-DE01DC0DCE6E}" v="251" dt="2026-08-01T05:50:23.950"/>
    <p1510:client id="{87DA6F26-DBF5-2533-426F-DC841E4F65D4}" v="508" dt="2026-08-01T06:48:31.721"/>
    <p1510:client id="{8ACFE6DA-5C3D-CF1F-49F1-F91AB34B5403}" v="1" dt="2026-08-01T20:26:18.087"/>
    <p1510:client id="{D3A255A2-B352-E178-26B1-F4709878AA8F}" v="1" dt="2026-08-01T19:37:48.503"/>
    <p1510:client id="{EB517F13-C424-E24B-148D-A6063909D18F}" v="71" dt="2026-07-31T23:57:03.563"/>
    <p1510:client id="{F7DCAC92-3386-1743-C7EB-140B404D246E}" v="306" dt="2026-08-01T02:12:16.032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C7F2-6E3C-5D76-8433-B345C61E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3FE98-4B1C-A586-73DC-D7829B9B3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0AA41-4EB7-B53A-0DE1-9108BE887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CB7A-299B-94BB-54C4-7019795D0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3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C911-7692-AB49-41D6-CE36ADEFF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11C6B-C2E5-E1C4-5AD9-BE25C36306F6}"/>
              </a:ext>
            </a:extLst>
          </p:cNvPr>
          <p:cNvSpPr txBox="1"/>
          <p:nvPr/>
        </p:nvSpPr>
        <p:spPr>
          <a:xfrm>
            <a:off x="631208" y="517477"/>
            <a:ext cx="1067937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Helvetica"/>
                <a:cs typeface="Helvetica"/>
              </a:rPr>
              <a:t>GoalWise</a:t>
            </a:r>
            <a:endParaRPr lang="en-US"/>
          </a:p>
          <a:p>
            <a:br>
              <a:rPr lang="en-US">
                <a:solidFill>
                  <a:schemeClr val="bg1"/>
                </a:solidFill>
              </a:rPr>
            </a:br>
            <a:r>
              <a:rPr lang="en-US" i="1">
                <a:solidFill>
                  <a:schemeClr val="bg1"/>
                </a:solidFill>
                <a:ea typeface="+mn-lt"/>
                <a:cs typeface="+mn-lt"/>
              </a:rPr>
              <a:t>Goal-oriented budgeting that tells you what's safe to spend — this week.</a:t>
            </a:r>
            <a:br>
              <a:rPr lang="en-US" i="1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en-US" i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MSCS 2101 Software Engineering • Group 3</a:t>
            </a:r>
            <a:endParaRPr lang="en-US" i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i="1"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3473BD-93D9-F33B-1AEF-638C93AFC993}"/>
              </a:ext>
            </a:extLst>
          </p:cNvPr>
          <p:cNvSpPr/>
          <p:nvPr/>
        </p:nvSpPr>
        <p:spPr>
          <a:xfrm>
            <a:off x="440656" y="2998860"/>
            <a:ext cx="11316266" cy="31844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07CFB-BED8-4960-1164-A66DB887A39C}"/>
              </a:ext>
            </a:extLst>
          </p:cNvPr>
          <p:cNvSpPr txBox="1"/>
          <p:nvPr/>
        </p:nvSpPr>
        <p:spPr>
          <a:xfrm>
            <a:off x="1046328" y="3292522"/>
            <a:ext cx="242247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14A50"/>
                </a:solidFill>
                <a:ea typeface="+mn-lt"/>
                <a:cs typeface="+mn-lt"/>
              </a:rPr>
              <a:t>TEAM 3</a:t>
            </a:r>
            <a:endParaRPr lang="en-US"/>
          </a:p>
          <a:p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30147-5EDC-FB28-64A4-A2CC1D82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45" y="4071668"/>
            <a:ext cx="9381585" cy="177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7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/>
              <a:t>THE PROBLEM AND OUR SOLUTION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5373-0671-58C6-774C-E81FEC3BD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80AE1-214F-C3F5-E4F5-0C8126F5AB56}"/>
              </a:ext>
            </a:extLst>
          </p:cNvPr>
          <p:cNvSpPr txBox="1"/>
          <p:nvPr/>
        </p:nvSpPr>
        <p:spPr>
          <a:xfrm>
            <a:off x="301388" y="290014"/>
            <a:ext cx="115778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Helvetica"/>
                <a:cs typeface="Helvetica"/>
              </a:rPr>
              <a:t>Weekly guesswork vs. one honest number</a:t>
            </a:r>
            <a:endParaRPr lang="en-US" sz="3200"/>
          </a:p>
          <a:p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16119-7C14-A224-8798-A89D5A2213A1}"/>
              </a:ext>
            </a:extLst>
          </p:cNvPr>
          <p:cNvSpPr/>
          <p:nvPr/>
        </p:nvSpPr>
        <p:spPr>
          <a:xfrm>
            <a:off x="352567" y="1245357"/>
            <a:ext cx="4873387" cy="2792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050" b="1">
                <a:solidFill>
                  <a:srgbClr val="DBA42F"/>
                </a:solidFill>
                <a:ea typeface="+mn-lt"/>
                <a:cs typeface="+mn-lt"/>
              </a:rPr>
              <a:t>THE PROBLEM</a:t>
            </a:r>
            <a:br>
              <a:rPr lang="en-US" sz="1050" b="1">
                <a:ea typeface="+mn-lt"/>
                <a:cs typeface="+mn-lt"/>
              </a:rPr>
            </a:br>
            <a:endParaRPr lang="en-US" sz="105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Budgeting apps organize around spending categories and last</a:t>
            </a: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month's report card.</a:t>
            </a:r>
            <a:br>
              <a:rPr lang="en-US" sz="1200">
                <a:latin typeface="Helvetica"/>
                <a:cs typeface="Helvetica"/>
              </a:rPr>
            </a:b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Someone saving for one near-term goal is left doing manual</a:t>
            </a: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math: “What can I actually spend this week without missing</a:t>
            </a: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my goal?”</a:t>
            </a:r>
            <a:br>
              <a:rPr lang="en-US" sz="1200">
                <a:latin typeface="Helvetica"/>
                <a:cs typeface="Helvetica"/>
              </a:rPr>
            </a:b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Worse, uncertain or unconfirmed income is often counted at</a:t>
            </a:r>
            <a:endParaRPr lang="en-US" sz="12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200">
                <a:latin typeface="Helvetica"/>
                <a:cs typeface="Helvetica"/>
              </a:rPr>
              <a:t>face value — producing false confidence.</a:t>
            </a:r>
            <a:endParaRPr lang="en-US" sz="1200"/>
          </a:p>
          <a:p>
            <a:pPr algn="ctr"/>
            <a:endParaRPr lang="en-US">
              <a:latin typeface="Helvetica"/>
              <a:cs typeface="Helvetic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B603E-2A9B-2395-4344-3CCE5EAFD98F}"/>
              </a:ext>
            </a:extLst>
          </p:cNvPr>
          <p:cNvSpPr/>
          <p:nvPr/>
        </p:nvSpPr>
        <p:spPr>
          <a:xfrm>
            <a:off x="6061880" y="1245358"/>
            <a:ext cx="5186149" cy="27352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1FD22-84F2-A8CB-4AB5-CBFD09238CA6}"/>
              </a:ext>
            </a:extLst>
          </p:cNvPr>
          <p:cNvSpPr txBox="1"/>
          <p:nvPr/>
        </p:nvSpPr>
        <p:spPr>
          <a:xfrm>
            <a:off x="6164239" y="1347716"/>
            <a:ext cx="4975746" cy="24083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solidFill>
                  <a:srgbClr val="114A50"/>
                </a:solidFill>
                <a:ea typeface="+mn-lt"/>
                <a:cs typeface="+mn-lt"/>
              </a:rPr>
              <a:t>OUR SOLUTION</a:t>
            </a:r>
            <a:endParaRPr lang="en-US" sz="1050"/>
          </a:p>
          <a:p>
            <a:br>
              <a:rPr lang="en-US" sz="1200">
                <a:latin typeface="Helvetica"/>
                <a:cs typeface="Helvetica"/>
              </a:rPr>
            </a:br>
            <a:r>
              <a:rPr lang="en-US" sz="1200">
                <a:solidFill>
                  <a:srgbClr val="0C2024"/>
                </a:solidFill>
                <a:latin typeface="Helvetica"/>
                <a:cs typeface="Helvetica"/>
              </a:rPr>
              <a:t>GoalWise turns cash, confirmed income, planned expenses, a</a:t>
            </a:r>
            <a:endParaRPr lang="en-US" sz="1200"/>
          </a:p>
          <a:p>
            <a:r>
              <a:rPr lang="en-US" sz="1200">
                <a:solidFill>
                  <a:srgbClr val="0C2024"/>
                </a:solidFill>
                <a:latin typeface="Helvetica"/>
                <a:cs typeface="Helvetica"/>
              </a:rPr>
              <a:t>reserve buffer, and time-to-goal into one </a:t>
            </a:r>
            <a:r>
              <a:rPr lang="en-US" sz="1200" b="1">
                <a:solidFill>
                  <a:srgbClr val="042C33"/>
                </a:solidFill>
                <a:latin typeface="Helvetica"/>
                <a:cs typeface="Helvetica"/>
              </a:rPr>
              <a:t>conservative weekly</a:t>
            </a:r>
            <a:endParaRPr lang="en-US" sz="1200"/>
          </a:p>
          <a:p>
            <a:r>
              <a:rPr lang="en-US" sz="1200" b="1">
                <a:solidFill>
                  <a:srgbClr val="042C33"/>
                </a:solidFill>
                <a:ea typeface="+mn-lt"/>
                <a:cs typeface="+mn-lt"/>
              </a:rPr>
              <a:t>Safe-to-Spend amount.</a:t>
            </a:r>
            <a:endParaRPr lang="en-US" sz="1200"/>
          </a:p>
          <a:p>
            <a:br>
              <a:rPr lang="en-US" sz="1200" b="1">
                <a:ea typeface="+mn-lt"/>
                <a:cs typeface="+mn-lt"/>
              </a:rPr>
            </a:br>
            <a:r>
              <a:rPr lang="en-US" sz="1200" b="1">
                <a:solidFill>
                  <a:srgbClr val="042C33"/>
                </a:solidFill>
                <a:ea typeface="+mn-lt"/>
                <a:cs typeface="+mn-lt"/>
              </a:rPr>
              <a:t>It recalculates automatically whenever the inputs change,</a:t>
            </a:r>
            <a:endParaRPr lang="en-US" sz="1200"/>
          </a:p>
          <a:p>
            <a:r>
              <a:rPr lang="en-US" sz="1200" b="1">
                <a:solidFill>
                  <a:srgbClr val="042C33"/>
                </a:solidFill>
                <a:ea typeface="+mn-lt"/>
                <a:cs typeface="+mn-lt"/>
              </a:rPr>
              <a:t>and it always explains why the number moved.</a:t>
            </a:r>
            <a:endParaRPr lang="en-US" sz="1200"/>
          </a:p>
          <a:p>
            <a:br>
              <a:rPr lang="en-US" sz="1200" i="1">
                <a:ea typeface="+mn-lt"/>
                <a:cs typeface="+mn-lt"/>
              </a:rPr>
            </a:br>
            <a:endParaRPr lang="en-US" sz="1200" i="1">
              <a:ea typeface="+mn-lt"/>
              <a:cs typeface="+mn-lt"/>
            </a:endParaRPr>
          </a:p>
          <a:p>
            <a:r>
              <a:rPr lang="en-US" sz="1200" i="1">
                <a:solidFill>
                  <a:srgbClr val="0C2024"/>
                </a:solidFill>
                <a:ea typeface="+mn-lt"/>
                <a:cs typeface="+mn-lt"/>
              </a:rPr>
              <a:t>Deterministic, versioned, and testable — never a black box.</a:t>
            </a:r>
            <a:endParaRPr lang="en-US" sz="1200"/>
          </a:p>
          <a:p>
            <a:pPr algn="l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77C50-7B8E-0880-82D7-B8C27FFEFDA3}"/>
              </a:ext>
            </a:extLst>
          </p:cNvPr>
          <p:cNvSpPr/>
          <p:nvPr/>
        </p:nvSpPr>
        <p:spPr>
          <a:xfrm>
            <a:off x="196071" y="5003161"/>
            <a:ext cx="1916372" cy="67101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2A65A1-66F7-6841-ED95-13106A3A3C20}"/>
              </a:ext>
            </a:extLst>
          </p:cNvPr>
          <p:cNvSpPr/>
          <p:nvPr/>
        </p:nvSpPr>
        <p:spPr>
          <a:xfrm>
            <a:off x="2570328" y="5004178"/>
            <a:ext cx="2143834" cy="67101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20458-E856-C549-5A7B-49980967A660}"/>
              </a:ext>
            </a:extLst>
          </p:cNvPr>
          <p:cNvSpPr txBox="1"/>
          <p:nvPr/>
        </p:nvSpPr>
        <p:spPr>
          <a:xfrm>
            <a:off x="2297373" y="4879072"/>
            <a:ext cx="26954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  <a:p>
            <a:pPr algn="ctr"/>
            <a:r>
              <a:rPr lang="en-US">
                <a:solidFill>
                  <a:srgbClr val="FFFFFF"/>
                </a:solidFill>
              </a:rPr>
              <a:t>+ Confirmed Income</a:t>
            </a:r>
            <a:endParaRPr lang="en-US"/>
          </a:p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5A343-410D-D7F9-5942-087562AAB7B9}"/>
              </a:ext>
            </a:extLst>
          </p:cNvPr>
          <p:cNvSpPr/>
          <p:nvPr/>
        </p:nvSpPr>
        <p:spPr>
          <a:xfrm>
            <a:off x="5066730" y="5004179"/>
            <a:ext cx="2371298" cy="6710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089FD-3FAB-501C-E1C2-011DA3E96BEF}"/>
              </a:ext>
            </a:extLst>
          </p:cNvPr>
          <p:cNvSpPr txBox="1"/>
          <p:nvPr/>
        </p:nvSpPr>
        <p:spPr>
          <a:xfrm>
            <a:off x="5112223" y="4879074"/>
            <a:ext cx="22291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− Planned Expenses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0E8EE-299F-C053-6F0D-C83EE70E573C}"/>
              </a:ext>
            </a:extLst>
          </p:cNvPr>
          <p:cNvSpPr/>
          <p:nvPr/>
        </p:nvSpPr>
        <p:spPr>
          <a:xfrm>
            <a:off x="7682644" y="4992805"/>
            <a:ext cx="1932296" cy="669879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4D7A4-48ED-8717-499C-FF9E7EE674D4}"/>
              </a:ext>
            </a:extLst>
          </p:cNvPr>
          <p:cNvSpPr txBox="1"/>
          <p:nvPr/>
        </p:nvSpPr>
        <p:spPr>
          <a:xfrm>
            <a:off x="7682645" y="4878070"/>
            <a:ext cx="18936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− Reserve Buffer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CE009B-256F-987A-61A4-2695F6507D83}"/>
              </a:ext>
            </a:extLst>
          </p:cNvPr>
          <p:cNvSpPr/>
          <p:nvPr/>
        </p:nvSpPr>
        <p:spPr>
          <a:xfrm>
            <a:off x="9885498" y="4991186"/>
            <a:ext cx="2235363" cy="672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  <a:p>
            <a:pPr algn="ctr"/>
            <a:endParaRPr lang="en-US" sz="1400" b="1">
              <a:solidFill>
                <a:schemeClr val="tx1"/>
              </a:solidFill>
            </a:endParaRPr>
          </a:p>
          <a:p>
            <a:pPr algn="ctr"/>
            <a:endParaRPr lang="en-US" sz="1400" b="1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18BC1-D1E0-9487-425E-6C5093065B93}"/>
              </a:ext>
            </a:extLst>
          </p:cNvPr>
          <p:cNvSpPr txBox="1"/>
          <p:nvPr/>
        </p:nvSpPr>
        <p:spPr>
          <a:xfrm>
            <a:off x="241610" y="5114172"/>
            <a:ext cx="182756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Current Cash</a:t>
            </a:r>
          </a:p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EBFE6-52A6-D08E-B5D8-8655B96C9A20}"/>
              </a:ext>
            </a:extLst>
          </p:cNvPr>
          <p:cNvSpPr txBox="1"/>
          <p:nvPr/>
        </p:nvSpPr>
        <p:spPr>
          <a:xfrm>
            <a:off x="9791252" y="5120757"/>
            <a:ext cx="259996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Weekly Safe-to-Spend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CF41DF8-42A7-9EAD-1D2E-F24C6417E3A3}"/>
              </a:ext>
            </a:extLst>
          </p:cNvPr>
          <p:cNvSpPr/>
          <p:nvPr/>
        </p:nvSpPr>
        <p:spPr>
          <a:xfrm>
            <a:off x="9936033" y="5231641"/>
            <a:ext cx="170597" cy="108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3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B873-7683-3141-146F-32A44C00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8414-AFFB-C929-1252-C06C903B7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07" y="2567983"/>
            <a:ext cx="13016198" cy="1426526"/>
          </a:xfrm>
        </p:spPr>
        <p:txBody>
          <a:bodyPr/>
          <a:lstStyle/>
          <a:p>
            <a:r>
              <a:rPr lang="en-US"/>
              <a:t>VISION &amp; COMPETITIVE analysis</a:t>
            </a:r>
          </a:p>
        </p:txBody>
      </p:sp>
    </p:spTree>
    <p:extLst>
      <p:ext uri="{BB962C8B-B14F-4D97-AF65-F5344CB8AC3E}">
        <p14:creationId xmlns:p14="http://schemas.microsoft.com/office/powerpoint/2010/main" val="18969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F49BFE-936C-99C2-F463-84B87481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96" y="189094"/>
            <a:ext cx="6209067" cy="915566"/>
          </a:xfrm>
        </p:spPr>
        <p:txBody>
          <a:bodyPr/>
          <a:lstStyle/>
          <a:p>
            <a:r>
              <a:rPr lang="en-US"/>
              <a:t>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E3689-5C5E-3B1B-F53E-1804A7840D0D}"/>
              </a:ext>
            </a:extLst>
          </p:cNvPr>
          <p:cNvSpPr txBox="1"/>
          <p:nvPr/>
        </p:nvSpPr>
        <p:spPr>
          <a:xfrm>
            <a:off x="149367" y="1562747"/>
            <a:ext cx="585121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Empower users to achieve financial goals through goal-driven budgeting.</a:t>
            </a:r>
            <a:endParaRPr lang="en-US" sz="2400"/>
          </a:p>
          <a:p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Success looks like:</a:t>
            </a:r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• Meet savings goals consistently</a:t>
            </a:r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• Automatic weekly safe-to-spend updates</a:t>
            </a:r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• Real-time goal progress</a:t>
            </a:r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• Less manual budgeting</a:t>
            </a:r>
            <a:endParaRPr lang="en-US" sz="2400"/>
          </a:p>
          <a:p>
            <a:pPr algn="l"/>
            <a:endParaRPr lang="en-US" sz="24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F9F6A3-01D9-A0CC-4B63-CDF8FC286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52023"/>
              </p:ext>
            </p:extLst>
          </p:nvPr>
        </p:nvGraphicFramePr>
        <p:xfrm>
          <a:off x="6176873" y="1558218"/>
          <a:ext cx="590550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6375">
                  <a:extLst>
                    <a:ext uri="{9D8B030D-6E8A-4147-A177-3AD203B41FA5}">
                      <a16:colId xmlns:a16="http://schemas.microsoft.com/office/drawing/2014/main" val="347255017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64533527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990779819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10790871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GoalWise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YNAB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Monarch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4399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Goal-based budgeting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1297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Weekly recalculation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 Auto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Limited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219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Forward-looking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Partial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Partial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990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Recurring expenses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1496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Goal progress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Real-time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✓</a:t>
                      </a:r>
                      <a:endParaRPr lang="en-IN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31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B6D3-4EE1-B742-8D7F-8FACCDA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6B7FFE-A9F4-E0DB-762B-FC9F72C5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96" y="189094"/>
            <a:ext cx="6209067" cy="915566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  <a:latin typeface="Aptos"/>
                <a:ea typeface="Calibri"/>
                <a:cs typeface="Calibri"/>
              </a:rPr>
              <a:t>USER FLOW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CF6A9-6C8F-D799-67F2-AD68C3491E66}"/>
              </a:ext>
            </a:extLst>
          </p:cNvPr>
          <p:cNvSpPr txBox="1"/>
          <p:nvPr/>
        </p:nvSpPr>
        <p:spPr>
          <a:xfrm>
            <a:off x="258792" y="1416170"/>
            <a:ext cx="6096000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Start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Enter Income &amp; Recurring Expenses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Create Savings Goal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Calculate Safe-to-Spend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Record/Upload Spending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Recalculate Weekly Pace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Display Updated Progress</a:t>
            </a:r>
          </a:p>
          <a:p>
            <a:pPr marL="0" algn="l" rtl="0"/>
            <a:r>
              <a:rPr lang="en-IN" sz="2200" kern="1200">
                <a:solidFill>
                  <a:schemeClr val="tx1"/>
                </a:solidFill>
                <a:latin typeface="Calibri"/>
              </a:rPr>
              <a:t>↓</a:t>
            </a:r>
            <a:br>
              <a:rPr lang="en-IN" sz="2200" kern="1200">
                <a:solidFill>
                  <a:schemeClr val="tx1"/>
                </a:solidFill>
                <a:latin typeface="Calibri"/>
              </a:rPr>
            </a:br>
            <a:r>
              <a:rPr lang="en-IN" sz="2200" kern="1200">
                <a:solidFill>
                  <a:schemeClr val="tx1"/>
                </a:solidFill>
                <a:latin typeface="Calibri"/>
              </a:rPr>
              <a:t>End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5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892248"/>
            <a:ext cx="7538425" cy="4474526"/>
          </a:xfrm>
        </p:spPr>
        <p:txBody>
          <a:bodyPr/>
          <a:lstStyle/>
          <a:p>
            <a:r>
              <a:rPr lang="en-US"/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C725BC2-6786-235E-EF42-5A22032BD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18" y="2475923"/>
            <a:ext cx="11671557" cy="254910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0B468EE-DB1D-0880-C6B3-D256F7F8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5E61-B638-09F9-C546-EC46B342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Decisions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25912-5F13-E8DA-8176-E425C758695F}"/>
              </a:ext>
            </a:extLst>
          </p:cNvPr>
          <p:cNvSpPr txBox="1"/>
          <p:nvPr/>
        </p:nvSpPr>
        <p:spPr>
          <a:xfrm>
            <a:off x="6680679" y="1718093"/>
            <a:ext cx="5511321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>
                <a:latin typeface="Aptos"/>
                <a:ea typeface="+mn-lt"/>
                <a:cs typeface="+mn-lt"/>
              </a:rPr>
              <a:t>Technical Stack</a:t>
            </a:r>
            <a:endParaRPr lang="en-US" b="1" u="sng">
              <a:latin typeface="Aptos"/>
              <a:ea typeface="+mn-lt"/>
              <a:cs typeface="+mn-lt"/>
            </a:endParaRPr>
          </a:p>
          <a:p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React + Vite frontend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FastAPI</a:t>
            </a:r>
            <a:r>
              <a:rPr lang="en-US" sz="2000">
                <a:ea typeface="+mn-lt"/>
                <a:cs typeface="+mn-lt"/>
              </a:rPr>
              <a:t> backend with REST /</a:t>
            </a:r>
            <a:r>
              <a:rPr lang="en-US" sz="2000" err="1">
                <a:ea typeface="+mn-lt"/>
                <a:cs typeface="+mn-lt"/>
              </a:rPr>
              <a:t>api</a:t>
            </a:r>
            <a:r>
              <a:rPr lang="en-US" sz="2000">
                <a:ea typeface="+mn-lt"/>
                <a:cs typeface="+mn-lt"/>
              </a:rPr>
              <a:t>/v1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SQLAlchemy</a:t>
            </a:r>
            <a:r>
              <a:rPr lang="en-US" sz="2000">
                <a:ea typeface="+mn-lt"/>
                <a:cs typeface="+mn-lt"/>
              </a:rPr>
              <a:t> + Alembic persistence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PostgreSQL on Railway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Argon2id auth, HTTP-only sessions, CSRF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Mermaid ADR/spec documentation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D1B43-77B2-0933-58D1-8FAE1E6ECC0D}"/>
              </a:ext>
            </a:extLst>
          </p:cNvPr>
          <p:cNvSpPr txBox="1"/>
          <p:nvPr/>
        </p:nvSpPr>
        <p:spPr>
          <a:xfrm>
            <a:off x="632604" y="1718094"/>
            <a:ext cx="552090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000" b="1" i="0" u="sng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AI Boundary</a:t>
            </a:r>
            <a:r>
              <a:rPr lang="en-US" sz="2000" b="0" i="0">
                <a:solidFill>
                  <a:srgbClr val="FFFFFF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AI may summarize deterministic results later</a:t>
            </a:r>
            <a:r>
              <a:rPr lang="en-US" sz="2000" b="0" i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AI may assist transaction classification later</a:t>
            </a:r>
            <a:r>
              <a:rPr lang="en-US" sz="2000" b="0" i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AI never calculates or overrides safe-to-spend</a:t>
            </a:r>
            <a:r>
              <a:rPr lang="en-US" sz="2000" b="0" i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Pace engine remains deterministic and testable</a:t>
            </a:r>
            <a:r>
              <a:rPr lang="en-US" sz="2000" b="0" i="0">
                <a:solidFill>
                  <a:srgbClr val="FFFFFF"/>
                </a:solidFill>
                <a:latin typeface="Aptos Light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6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AA0D-9E9E-9ADA-F18A-C67DAC9A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1CAD-0E87-E7E0-CBF8-2B4E2ABE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</p:spPr>
        <p:txBody>
          <a:bodyPr anchor="ctr">
            <a:normAutofit/>
          </a:bodyPr>
          <a:lstStyle/>
          <a:p>
            <a:r>
              <a:rPr lang="en-US" sz="4400"/>
              <a:t>ADR-0001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63D54-3B13-E75E-6A7D-05CA8A52B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69" y="2120920"/>
            <a:ext cx="5489736" cy="3609358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84A41-2C39-B1B0-52EF-535739BD7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477" y="2126649"/>
            <a:ext cx="5392240" cy="3603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2117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A19FE-5308-081C-E1F7-ABFF43D1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9B97FD-1441-87E0-8C15-9F9DB656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 anchor="t">
            <a:normAutofit/>
          </a:bodyPr>
          <a:lstStyle/>
          <a:p>
            <a:r>
              <a:rPr lang="en-US" sz="4700"/>
              <a:t>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AB228-4D08-D235-7775-03738E28C98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430054" y="1001715"/>
            <a:ext cx="7103790" cy="522128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663B7C-5D5A-1450-9811-5285B984D45B}"/>
              </a:ext>
            </a:extLst>
          </p:cNvPr>
          <p:cNvSpPr txBox="1"/>
          <p:nvPr/>
        </p:nvSpPr>
        <p:spPr>
          <a:xfrm>
            <a:off x="502127" y="2755094"/>
            <a:ext cx="327263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Consolas"/>
              </a:rPr>
              <a:t>"Set a financial goal"</a:t>
            </a:r>
            <a:endParaRPr lang="en-US">
              <a:latin typeface="Consolas"/>
            </a:endParaRPr>
          </a:p>
          <a:p>
            <a:pPr algn="ctr"/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8612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32DC7-0533-8F39-E63C-F19D869AD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9477-168C-9FF6-C0E0-CCEAD3FB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/>
              <a:t>Challenges, Risks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36737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D9520-F480-5F92-33D6-B36C7CC91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0619-DC67-D560-CF3E-76BD380D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PRACTICAL CHALLENGES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EFDA4-10DA-3153-618E-1BE3712FCDEE}"/>
              </a:ext>
            </a:extLst>
          </p:cNvPr>
          <p:cNvSpPr txBox="1"/>
          <p:nvPr/>
        </p:nvSpPr>
        <p:spPr>
          <a:xfrm>
            <a:off x="632603" y="1331401"/>
            <a:ext cx="10927341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sz="2000" b="1">
                <a:latin typeface="Aptos"/>
              </a:rPr>
              <a:t>UNREALISTIC EXPECTATION: Overly Optimistic Safe-to-Spend Calculation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/>
              <a:t>Income: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Overestimates income 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Relies on uncertain income in the total income calculation (freelance projects)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Expense: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Underestimate expenses 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Lack of understanding about unpredictable expenses (medical bills, urgent household equipment repairs, car tune-up, </a:t>
            </a:r>
            <a:r>
              <a:rPr lang="en-US" err="1"/>
              <a:t>etc</a:t>
            </a:r>
            <a:r>
              <a:rPr lang="en-US"/>
              <a:t>) 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latin typeface="Aptos Light"/>
            </a:endParaRPr>
          </a:p>
          <a:p>
            <a:r>
              <a:rPr lang="en-US" b="1">
                <a:latin typeface="Aptos"/>
              </a:rPr>
              <a:t>USER INPUT INCORRECT DATA &amp; LOW ENGAGEMENT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Missing incomes/expenses, incorrect amounts &amp; not entering enough data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Aptos Light"/>
            </a:endParaRPr>
          </a:p>
          <a:p>
            <a:r>
              <a:rPr lang="en-US" b="1">
                <a:latin typeface="Aptos"/>
              </a:rPr>
              <a:t>PRIVACY AND SECURITY BREACHES</a:t>
            </a:r>
            <a:endParaRPr lang="en-US">
              <a:latin typeface="Aptos Light"/>
            </a:endParaRPr>
          </a:p>
          <a:p>
            <a:pPr marL="285750" indent="-285750">
              <a:buFont typeface="Calibri"/>
              <a:buChar char="-"/>
            </a:pPr>
            <a:r>
              <a:rPr lang="en-US"/>
              <a:t>Personal finance data (volume and category)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Financial behavior exposure (habit of spending, invest/withdraw routine,…)</a:t>
            </a:r>
            <a:br>
              <a:rPr lang="en-US"/>
            </a:br>
            <a:endParaRPr lang="en-US"/>
          </a:p>
          <a:p>
            <a:r>
              <a:rPr lang="en-US" b="1">
                <a:latin typeface="Aptos"/>
              </a:rPr>
              <a:t>SOFTWARE CALCULATION BUGS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2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6096-EB7F-9A4A-7D3E-06E7EE9D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E78D-55D7-8D83-D30C-AC430F98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Mitigation strategy (1)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74019-2231-C793-A594-BE4FB7473403}"/>
              </a:ext>
            </a:extLst>
          </p:cNvPr>
          <p:cNvSpPr txBox="1"/>
          <p:nvPr/>
        </p:nvSpPr>
        <p:spPr>
          <a:xfrm>
            <a:off x="632603" y="1593490"/>
            <a:ext cx="10995290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sz="2000" b="1">
                <a:latin typeface="Aptos"/>
              </a:rPr>
              <a:t>UNREALISTIC EXPECTATION: Overly Optimistic Safe-to-Spend Calculation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Aptos Light"/>
              </a:rPr>
              <a:t>Rely heavily on predictable income and underestimate uncertain income (commission, bonuses, freelance,…)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Aptos Light"/>
              </a:rPr>
              <a:t>Use % conservative reserve buffer (set safety margin)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Aptos Light"/>
              </a:rPr>
              <a:t>Display how recommendations are made (saving analysis)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Aptos Light"/>
              </a:rPr>
              <a:t>Real-time update (or weekly update) per new entries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Aptos Light"/>
            </a:endParaRPr>
          </a:p>
          <a:p>
            <a:r>
              <a:rPr lang="en-US" sz="2000" b="1">
                <a:latin typeface="Aptos"/>
              </a:rPr>
              <a:t>NEXT STEPS: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Test against predefined financial scenarios</a:t>
            </a:r>
            <a:endParaRPr lang="en-US">
              <a:latin typeface="Aptos Light"/>
            </a:endParaRPr>
          </a:p>
          <a:p>
            <a:pPr marL="342900" indent="-342900">
              <a:buFont typeface="Calibri"/>
              <a:buChar char="-"/>
            </a:pPr>
            <a:r>
              <a:rPr lang="en-US">
                <a:latin typeface="Aptos Light"/>
              </a:rPr>
              <a:t>User sets the safety margin according to average %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latin typeface="Aptos Light"/>
              </a:rPr>
              <a:t>Reduce the use of AI in recommendation; focus on if-then rules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latin typeface="Aptos Light"/>
              </a:rPr>
              <a:t>Weekly goals notice feature</a:t>
            </a:r>
          </a:p>
        </p:txBody>
      </p:sp>
    </p:spTree>
    <p:extLst>
      <p:ext uri="{BB962C8B-B14F-4D97-AF65-F5344CB8AC3E}">
        <p14:creationId xmlns:p14="http://schemas.microsoft.com/office/powerpoint/2010/main" val="1001304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D5BDB-F444-76E0-3CC6-4EFFD5EB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19AF-61DB-6C32-8AB1-F7212AA3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Mitigation strategy (2)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D16DB-6B03-067E-FD45-0A61703C44D5}"/>
              </a:ext>
            </a:extLst>
          </p:cNvPr>
          <p:cNvSpPr txBox="1"/>
          <p:nvPr/>
        </p:nvSpPr>
        <p:spPr>
          <a:xfrm>
            <a:off x="632603" y="1593490"/>
            <a:ext cx="10927341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sz="2000" b="1">
                <a:latin typeface="Aptos"/>
              </a:rPr>
              <a:t>USER INPUT INCORRECT DATA &amp; LOW ENGAGEMENT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pPr marL="285750" indent="-285750">
              <a:buFont typeface="Calibri,Sans-Serif"/>
              <a:buChar char="-"/>
            </a:pPr>
            <a:r>
              <a:rPr lang="en-US"/>
              <a:t>Verify steps after data entry (review)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Reuse past data for auto-fill (during entry) &amp; verification (after entry)</a:t>
            </a:r>
          </a:p>
          <a:p>
            <a:endParaRPr lang="en-US" sz="2000" b="1">
              <a:latin typeface="Aptos"/>
            </a:endParaRPr>
          </a:p>
          <a:p>
            <a:r>
              <a:rPr lang="en-US" sz="2000" b="1">
                <a:latin typeface="Aptos"/>
              </a:rPr>
              <a:t>NEXT STEPS:</a:t>
            </a:r>
            <a:endParaRPr lang="en-US"/>
          </a:p>
          <a:p>
            <a:pPr marL="342900" indent="-342900">
              <a:buFont typeface="Calibri"/>
              <a:buChar char="-"/>
            </a:pPr>
            <a:r>
              <a:rPr lang="en-US">
                <a:latin typeface="Aptos Light"/>
              </a:rPr>
              <a:t>Validation feature from the user (feedback) for important requirements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1433987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BF24-8A58-6471-2141-AF1A0310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D5A4-AE9D-8F9F-01E0-0FC33ABA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Mitigation strategy (3)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F301A-3D00-CEF2-7ED9-D248DD6C9488}"/>
              </a:ext>
            </a:extLst>
          </p:cNvPr>
          <p:cNvSpPr txBox="1"/>
          <p:nvPr/>
        </p:nvSpPr>
        <p:spPr>
          <a:xfrm>
            <a:off x="632603" y="1593490"/>
            <a:ext cx="10927341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sz="2000" b="1">
                <a:latin typeface="Aptos"/>
              </a:rPr>
              <a:t>PRIVACY AND SECURITY BREACHES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User authentication is required for entry/edit, view, and extract data/report/recommendation from software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User confirmation for any suggestion/recommendation from software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No AI/automation besides suggestion/financial plan assumption</a:t>
            </a:r>
          </a:p>
          <a:p>
            <a:endParaRPr lang="en-US" sz="2000" b="1">
              <a:latin typeface="Aptos"/>
            </a:endParaRPr>
          </a:p>
          <a:p>
            <a:r>
              <a:rPr lang="en-US" sz="2000" b="1">
                <a:latin typeface="Aptos"/>
              </a:rPr>
              <a:t>NEXT STEPS:</a:t>
            </a: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User information allowance policy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Two-step authentication sign-in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Password rules</a:t>
            </a:r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8319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8655-87C3-ADFC-FF7F-2B0B66E9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985F-24A5-4450-E1CF-D8CD5912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0203"/>
            <a:ext cx="10923934" cy="1099006"/>
          </a:xfrm>
        </p:spPr>
        <p:txBody>
          <a:bodyPr>
            <a:normAutofit/>
          </a:bodyPr>
          <a:lstStyle/>
          <a:p>
            <a:r>
              <a:rPr lang="en-US" sz="3600" u="sng" cap="all"/>
              <a:t>Mitigation strategy (4)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375C2-F8A4-D162-C840-49317942CE96}"/>
              </a:ext>
            </a:extLst>
          </p:cNvPr>
          <p:cNvSpPr txBox="1"/>
          <p:nvPr/>
        </p:nvSpPr>
        <p:spPr>
          <a:xfrm>
            <a:off x="632603" y="1593490"/>
            <a:ext cx="10927341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sz="2000" b="1">
                <a:solidFill>
                  <a:srgbClr val="FFFFFF"/>
                </a:solidFill>
                <a:latin typeface="Aptos"/>
              </a:rPr>
              <a:t>SOFTWARE CALCULATION BUGS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Code review &amp; automated cross-test (using multiple AI)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Adjust predefined financial scenario testing</a:t>
            </a:r>
          </a:p>
          <a:p>
            <a:pPr marL="285750" indent="-285750">
              <a:buFont typeface="Calibri,Sans-Serif"/>
              <a:buChar char="-"/>
            </a:pPr>
            <a:endParaRPr lang="en-US">
              <a:latin typeface="Aptos Light"/>
            </a:endParaRPr>
          </a:p>
          <a:p>
            <a:r>
              <a:rPr lang="en-US" sz="2000" b="1">
                <a:latin typeface="Aptos"/>
              </a:rPr>
              <a:t>NEXT STEPS:</a:t>
            </a: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AI agent selection criteria</a:t>
            </a: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Aptos Light"/>
              </a:rPr>
              <a:t>Build predefined financial scenario testing</a:t>
            </a:r>
          </a:p>
          <a:p>
            <a:pPr marL="285750" indent="-285750">
              <a:buFont typeface="Calibri,Sans-Serif"/>
              <a:buChar char="-"/>
            </a:pPr>
            <a:endParaRPr lang="en-US">
              <a:latin typeface="Aptos Ligh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96965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9" name="Picture Placeholder 8" descr="Person juming in the air">
            <a:extLst>
              <a:ext uri="{FF2B5EF4-FFF2-40B4-BE49-F238E27FC236}">
                <a16:creationId xmlns:a16="http://schemas.microsoft.com/office/drawing/2014/main" id="{D711D4FA-3708-23A0-58EB-81F8E494DE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" r="6"/>
          <a:stretch/>
        </p:blipFill>
        <p:spPr>
          <a:xfrm>
            <a:off x="634029" y="630936"/>
            <a:ext cx="5652469" cy="5592063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Panel discussion session</a:t>
            </a:r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BoldUnderlinesKeynote</vt:lpstr>
      <vt:lpstr>PowerPoint Presentation</vt:lpstr>
      <vt:lpstr>THE PROBLEM AND OUR SOLUTION</vt:lpstr>
      <vt:lpstr>PowerPoint Presentation</vt:lpstr>
      <vt:lpstr>VISION &amp; COMPETITIVE analysis</vt:lpstr>
      <vt:lpstr>VISION</vt:lpstr>
      <vt:lpstr>USER FLOW</vt:lpstr>
      <vt:lpstr>Technical Approach</vt:lpstr>
      <vt:lpstr>System ARCHITECTURE</vt:lpstr>
      <vt:lpstr>Decisions </vt:lpstr>
      <vt:lpstr>ADR-0001 </vt:lpstr>
      <vt:lpstr>Sequence DIAGRAM</vt:lpstr>
      <vt:lpstr>Challenges, Risks and NEXT STEPS</vt:lpstr>
      <vt:lpstr>PRACTICAL CHALLENGES </vt:lpstr>
      <vt:lpstr>Mitigation strategy (1) </vt:lpstr>
      <vt:lpstr>Mitigation strategy (2) </vt:lpstr>
      <vt:lpstr>Mitigation strategy (3) </vt:lpstr>
      <vt:lpstr>Mitigation strategy (4)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</cp:revision>
  <dcterms:created xsi:type="dcterms:W3CDTF">2026-07-30T01:57:48Z</dcterms:created>
  <dcterms:modified xsi:type="dcterms:W3CDTF">2026-08-01T20:29:48Z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