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74E10-D3B8-EF7A-5CA5-CADE5985AA62}" v="16" dt="2026-08-22T15:38:0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GoalWise — Critical Design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32B"/>
                </a:solidFill>
              </a:defRPr>
            </a:pPr>
            <a:r>
              <a:t>v0.2.0 Integrated Staging Release · Core MVP planning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32B"/>
                </a:solidFill>
              </a:defRPr>
            </a:pPr>
            <a:r>
              <a:t>Team: Nati, Vishal, Ashutosh, Thanh</a:t>
            </a:r>
          </a:p>
          <a:p>
            <a:pPr>
              <a:spcAft>
                <a:spcPts val="600"/>
              </a:spcAft>
              <a:defRPr sz="1500">
                <a:solidFill>
                  <a:srgbClr val="1F232B"/>
                </a:solidFill>
              </a:defRPr>
            </a:pPr>
            <a:r>
              <a:t>Goal: tell a user whether they are on pace for one near-term savings goal</a:t>
            </a:r>
          </a:p>
          <a:p>
            <a:pPr>
              <a:spcAft>
                <a:spcPts val="600"/>
              </a:spcAft>
              <a:defRPr sz="1500">
                <a:solidFill>
                  <a:srgbClr val="1F232B"/>
                </a:solidFill>
              </a:defRPr>
            </a:pPr>
            <a:r>
              <a:t>Design stance: deterministic financial core, AI-free calculations, auditable snapshots</a:t>
            </a:r>
          </a:p>
          <a:p>
            <a:pPr>
              <a:spcAft>
                <a:spcPts val="600"/>
              </a:spcAft>
              <a:defRPr sz="1500">
                <a:solidFill>
                  <a:srgbClr val="1F232B"/>
                </a:solidFill>
              </a:defRPr>
            </a:pPr>
            <a:r>
              <a:t>CDR focus: refined design, implementation progress, test strategy, risks, and final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0857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CORE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919472"/>
            <a:ext cx="155448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82F5C"/>
                </a:solidFill>
              </a:defRPr>
            </a:pPr>
            <a: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4919472"/>
            <a:ext cx="123444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82F5C"/>
                </a:solidFill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4919472"/>
            <a:ext cx="150876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82F5C"/>
                </a:solidFill>
              </a:defRPr>
            </a:pPr>
            <a:r>
              <a:t>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919472"/>
            <a:ext cx="118872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82F5C"/>
                </a:solidFill>
              </a:defRPr>
            </a:pPr>
            <a:r>
              <a:t>Railway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16168"/>
            <a:ext cx="79552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87182"/>
                </a:solidFill>
              </a:defRPr>
            </a:pPr>
            <a:r>
              <a:t>Preparation note: OpenAI Codex assisted with slide drafting, layout generation, and formatting; the team reviewed and owns the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Since the PDR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Visible changes from preliminary design to detailed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27048"/>
            <a:ext cx="1554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453895"/>
            <a:ext cx="87782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SRS v2.0 review + phased build path made explicit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554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212848"/>
            <a:ext cx="87782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React/Vite workflow integrated with auth, goal, financial inputs,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44952"/>
            <a:ext cx="1554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971800"/>
            <a:ext cx="87782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Goal lifecycle, dashboard reads, snapshots, weekly plans, API conventions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03903"/>
            <a:ext cx="1554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730752"/>
            <a:ext cx="87782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Railway staging + Caddy same-origin /api proxy for hosted browser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62855"/>
            <a:ext cx="1554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489704"/>
            <a:ext cx="87782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Quality gates + historical findings fed back into implementation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94960"/>
            <a:ext cx="10515600" cy="566928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CDR answer to PDR feedback</a:t>
            </a:r>
          </a:p>
          <a:p>
            <a:pPr>
              <a:spcAft>
                <a:spcPts val="0"/>
              </a:spcAft>
              <a:defRPr sz="1200">
                <a:solidFill>
                  <a:srgbClr val="1F232B"/>
                </a:solidFill>
              </a:defRPr>
            </a:pPr>
            <a:r>
              <a:t>The project now has a buildable layered design, multiple accepted ADRs, a real integrated core, and a clear next path for CSV import and AI explain-only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Architecture &amp; 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Layered modular monolith with a deterministic financial core</a:t>
            </a:r>
          </a:p>
        </p:txBody>
      </p:sp>
      <p:pic>
        <p:nvPicPr>
          <p:cNvPr id="5" name="Picture 4" descr="slide-5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27080" cy="2386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31012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KEY ADRS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ADR-0001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Layered modular monolith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3611880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ADR-0002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Deterministic engine; no runtime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3611880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ADR-0003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Immutable calculation snapshots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14616" y="3611880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ADR-0005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Server sessions + ownership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0888" y="3611880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ADR-0008/9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React/Vite + Railway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30368"/>
            <a:ext cx="10881360" cy="512064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Defensible trade-off</a:t>
            </a:r>
          </a:p>
          <a:p>
            <a:pPr>
              <a:spcAft>
                <a:spcPts val="0"/>
              </a:spcAft>
              <a:defRPr sz="1150">
                <a:solidFill>
                  <a:srgbClr val="1F232B"/>
                </a:solidFill>
              </a:defRPr>
            </a:pPr>
            <a:r>
              <a:t>Build CSV import and AI explanations next, but keep money guidance deterministic, testable, and backend-owned.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Detailed Design — Class / Module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Buildable backend boundaries and core domain objects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61872"/>
            <a:ext cx="1965960" cy="914400"/>
          </a:xfrm>
          <a:prstGeom prst="roundRect">
            <a:avLst/>
          </a:prstGeom>
          <a:solidFill>
            <a:srgbClr val="E2EAF9"/>
          </a:solidFill>
          <a:ln w="15240">
            <a:solidFill>
              <a:srgbClr val="3A5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FastAPI routers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auth.py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goals.py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financial_inputs.py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dashboard.py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261872"/>
            <a:ext cx="19659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Pydantic schemas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request models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response models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field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261872"/>
            <a:ext cx="1965960" cy="914400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Services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business rules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ownership checks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recalculation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61872"/>
            <a:ext cx="19659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Repositories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parameterized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SQLAlchemy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261872"/>
            <a:ext cx="16002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Database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PostgreSQL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SQLite tests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719072"/>
            <a:ext cx="365760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92040" y="1719072"/>
            <a:ext cx="365760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1719072"/>
            <a:ext cx="365760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55480" y="1719072"/>
            <a:ext cx="365760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2743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CORE PERSISTED ENTITIES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19202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User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identity, session owner, time 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063240"/>
            <a:ext cx="19202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Goal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target, saved amount, dates,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063240"/>
            <a:ext cx="19202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Financial Profile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starting cash, reserve buffer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63240"/>
            <a:ext cx="19202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Income Source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amount, recurrence, confirmation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063240"/>
            <a:ext cx="19202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Planned Expense</a:t>
            </a:r>
          </a:p>
          <a:p>
            <a:pPr>
              <a:spcAft>
                <a:spcPts val="0"/>
              </a:spcAft>
              <a:defRPr sz="950">
                <a:solidFill>
                  <a:srgbClr val="1F232B"/>
                </a:solidFill>
              </a:defRPr>
            </a:pPr>
            <a:r>
              <a:t>amount, recurrence,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46227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CALCULATION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736592"/>
            <a:ext cx="2057400" cy="749808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Calculation Snapshot</a:t>
            </a:r>
          </a:p>
          <a:p>
            <a:pPr>
              <a:spcAft>
                <a:spcPts val="0"/>
              </a:spcAft>
              <a:defRPr sz="919">
                <a:solidFill>
                  <a:srgbClr val="1F232B"/>
                </a:solidFill>
              </a:defRPr>
            </a:pPr>
            <a:r>
              <a:t>append-only pace-v1 inputs and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736592"/>
            <a:ext cx="19202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Weekly Plan</a:t>
            </a:r>
          </a:p>
          <a:p>
            <a:pPr>
              <a:spcAft>
                <a:spcPts val="0"/>
              </a:spcAft>
              <a:defRPr sz="919">
                <a:solidFill>
                  <a:srgbClr val="1F232B"/>
                </a:solidFill>
              </a:defRPr>
            </a:pPr>
            <a:r>
              <a:t>frozen current-week allowance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736592"/>
            <a:ext cx="2057400" cy="749808"/>
          </a:xfrm>
          <a:prstGeom prst="roundRect">
            <a:avLst/>
          </a:prstGeom>
          <a:solidFill>
            <a:srgbClr val="E2EAF9"/>
          </a:solidFill>
          <a:ln w="15240">
            <a:solidFill>
              <a:srgbClr val="3A5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Pace Engine</a:t>
            </a:r>
          </a:p>
          <a:p>
            <a:pPr>
              <a:spcAft>
                <a:spcPts val="0"/>
              </a:spcAft>
              <a:defRPr sz="919">
                <a:solidFill>
                  <a:srgbClr val="1F232B"/>
                </a:solidFill>
              </a:defRPr>
            </a:pPr>
            <a:r>
              <a:t>pure deterministic module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83480" y="5111496"/>
            <a:ext cx="502920" cy="0"/>
          </a:xfrm>
          <a:prstGeom prst="line">
            <a:avLst/>
          </a:prstGeom>
          <a:ln w="16510">
            <a:solidFill>
              <a:srgbClr val="2E7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06640" y="5111496"/>
            <a:ext cx="502920" cy="0"/>
          </a:xfrm>
          <a:prstGeom prst="line">
            <a:avLst/>
          </a:prstGeom>
          <a:ln w="1651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Detailed Design —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Save input → recalculate → snapshot → dashboard refresh</a:t>
            </a:r>
          </a:p>
        </p:txBody>
      </p:sp>
      <p:pic>
        <p:nvPicPr>
          <p:cNvPr id="5" name="Picture 4" descr="slide-5-sequence-recalc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61872"/>
            <a:ext cx="6165015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389888"/>
            <a:ext cx="251460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Key validation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Authenticated session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CSRF on unsafe methods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Server-side ownership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788920"/>
            <a:ext cx="2514600" cy="1143000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Key invariant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The frontend triggers changes, but the backend owns official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4160520"/>
            <a:ext cx="25146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Traceability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Every valid change can create an immutable pace-v1 snapshot.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Detailed Design —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User-owned planning inputs produce immutable calculation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OWNERSHIP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1828800" cy="749808"/>
          </a:xfrm>
          <a:prstGeom prst="roundRect">
            <a:avLst/>
          </a:prstGeom>
          <a:solidFill>
            <a:srgbClr val="E2EAF9"/>
          </a:solidFill>
          <a:ln w="15240">
            <a:solidFill>
              <a:srgbClr val="3A5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USER</a:t>
            </a:r>
          </a:p>
          <a:p>
            <a:pPr>
              <a:spcAft>
                <a:spcPts val="0"/>
              </a:spcAft>
              <a:defRPr sz="1050">
                <a:solidFill>
                  <a:srgbClr val="1F232B"/>
                </a:solidFill>
              </a:defRPr>
            </a:pPr>
            <a:r>
              <a:t>owns every private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9844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PLANNING INPUT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27632"/>
            <a:ext cx="1874519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GOAL</a:t>
            </a:r>
          </a:p>
          <a:p>
            <a:pPr>
              <a:spcAft>
                <a:spcPts val="0"/>
              </a:spcAft>
              <a:defRPr sz="880">
                <a:solidFill>
                  <a:srgbClr val="1F232B"/>
                </a:solidFill>
              </a:defRPr>
            </a:pPr>
            <a:r>
              <a:t>target, saved, dates,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27632"/>
            <a:ext cx="1874519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FINANCIAL_PROFILE</a:t>
            </a:r>
          </a:p>
          <a:p>
            <a:pPr>
              <a:spcAft>
                <a:spcPts val="0"/>
              </a:spcAft>
              <a:defRPr sz="880">
                <a:solidFill>
                  <a:srgbClr val="1F232B"/>
                </a:solidFill>
              </a:defRPr>
            </a:pPr>
            <a:r>
              <a:t>cash, date, reserve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487168"/>
            <a:ext cx="1874519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INCOME_SOURCE</a:t>
            </a:r>
          </a:p>
          <a:p>
            <a:pPr>
              <a:spcAft>
                <a:spcPts val="0"/>
              </a:spcAft>
              <a:defRPr sz="880">
                <a:solidFill>
                  <a:srgbClr val="1F232B"/>
                </a:solidFill>
              </a:defRPr>
            </a:pPr>
            <a:r>
              <a:t>amount, recurrence,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487168"/>
            <a:ext cx="1874519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PLANNED_EXPENSE</a:t>
            </a:r>
          </a:p>
          <a:p>
            <a:pPr>
              <a:spcAft>
                <a:spcPts val="0"/>
              </a:spcAft>
              <a:defRPr sz="880">
                <a:solidFill>
                  <a:srgbClr val="1F232B"/>
                </a:solidFill>
              </a:defRPr>
            </a:pPr>
            <a:r>
              <a:t>amount, recurrence,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129844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CALCULATION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27632"/>
            <a:ext cx="1508760" cy="749808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PACE-V1</a:t>
            </a:r>
          </a:p>
          <a:p>
            <a:pPr>
              <a:spcAft>
                <a:spcPts val="0"/>
              </a:spcAft>
              <a:defRPr sz="940">
                <a:solidFill>
                  <a:srgbClr val="1F232B"/>
                </a:solidFill>
              </a:defRPr>
            </a:pPr>
            <a:r>
              <a:t>pure deterministic</a:t>
            </a:r>
          </a:p>
          <a:p>
            <a:pPr>
              <a:spcAft>
                <a:spcPts val="0"/>
              </a:spcAft>
              <a:defRPr sz="940">
                <a:solidFill>
                  <a:srgbClr val="1F232B"/>
                </a:solidFill>
              </a:defRPr>
            </a:pPr>
            <a:r>
              <a:t>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27632"/>
            <a:ext cx="2057400" cy="749808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CALCULATION_SNAPSHOT</a:t>
            </a:r>
          </a:p>
          <a:p>
            <a:pPr>
              <a:spcAft>
                <a:spcPts val="0"/>
              </a:spcAft>
              <a:defRPr sz="890">
                <a:solidFill>
                  <a:srgbClr val="1F232B"/>
                </a:solidFill>
              </a:defRPr>
            </a:pPr>
            <a:r>
              <a:t>immutable input/result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633472"/>
            <a:ext cx="20574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WEEKLY_PLAN</a:t>
            </a:r>
          </a:p>
          <a:p>
            <a:pPr>
              <a:spcAft>
                <a:spcPts val="0"/>
              </a:spcAft>
              <a:defRPr sz="890">
                <a:solidFill>
                  <a:srgbClr val="1F232B"/>
                </a:solidFill>
              </a:defRPr>
            </a:pPr>
            <a:r>
              <a:t>frozen opening allowance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002536"/>
            <a:ext cx="274320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2002536"/>
            <a:ext cx="548640" cy="0"/>
          </a:xfrm>
          <a:prstGeom prst="line">
            <a:avLst/>
          </a:prstGeom>
          <a:ln w="17780">
            <a:solidFill>
              <a:srgbClr val="2E7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3960" y="2002536"/>
            <a:ext cx="320040" cy="0"/>
          </a:xfrm>
          <a:prstGeom prst="line">
            <a:avLst/>
          </a:prstGeom>
          <a:ln w="17780">
            <a:solidFill>
              <a:srgbClr val="2E7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68128" y="2377440"/>
            <a:ext cx="0" cy="256032"/>
          </a:xfrm>
          <a:prstGeom prst="line">
            <a:avLst/>
          </a:prstGeom>
          <a:ln w="15240">
            <a:solidFill>
              <a:srgbClr val="2E7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91363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DATA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F232B"/>
                </a:solidFill>
              </a:defRPr>
            </a:pPr>
            <a:r>
              <a:t>Money stored as integer cents, never floats</a:t>
            </a:r>
          </a:p>
          <a:p>
            <a:pPr>
              <a:spcAft>
                <a:spcPts val="600"/>
              </a:spcAft>
              <a:defRPr sz="1220">
                <a:solidFill>
                  <a:srgbClr val="1F232B"/>
                </a:solidFill>
              </a:defRPr>
            </a:pPr>
            <a:r>
              <a:t>UTC timestamps; local-calendar semantics for date-only values</a:t>
            </a:r>
          </a:p>
          <a:p>
            <a:pPr>
              <a:spcAft>
                <a:spcPts val="600"/>
              </a:spcAft>
              <a:defRPr sz="1220">
                <a:solidFill>
                  <a:srgbClr val="1F232B"/>
                </a:solidFill>
              </a:defRPr>
            </a:pPr>
            <a:r>
              <a:t>Every protected row belongs to user_id</a:t>
            </a:r>
          </a:p>
          <a:p>
            <a:pPr>
              <a:spcAft>
                <a:spcPts val="600"/>
              </a:spcAft>
              <a:defRPr sz="1220">
                <a:solidFill>
                  <a:srgbClr val="1F232B"/>
                </a:solidFill>
              </a:defRPr>
            </a:pPr>
            <a:r>
              <a:t>Cross-user private resource access returns 404</a:t>
            </a:r>
          </a:p>
          <a:p>
            <a:pPr>
              <a:spcAft>
                <a:spcPts val="600"/>
              </a:spcAft>
              <a:defRPr sz="1220">
                <a:solidFill>
                  <a:srgbClr val="1F232B"/>
                </a:solidFill>
              </a:defRPr>
            </a:pPr>
            <a:r>
              <a:t>Snapshot rows are inserted, not mutated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96512"/>
            <a:ext cx="425196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Next demo increments</a:t>
            </a:r>
          </a:p>
          <a:p>
            <a:pPr>
              <a:spcAft>
                <a:spcPts val="0"/>
              </a:spcAft>
              <a:defRPr sz="1150">
                <a:solidFill>
                  <a:srgbClr val="1F232B"/>
                </a:solidFill>
              </a:defRPr>
            </a:pPr>
            <a:r>
              <a:t>CSV import adds transaction inputs. AI summaries explain committed snapshot results. Neither replaces pace-v1 as the source of truth.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Implementation Progress +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v0.2.0 integrated staging release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23444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Built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316736"/>
            <a:ext cx="87325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Auth/session/CSRF, goal lifecycle, manual inputs, pace engine, snapshots, dashboard API, React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2"/>
            <a:ext cx="123444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Integrated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029968"/>
            <a:ext cx="87325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v0.2.0 hosted staging core; frontend uses same-origin /api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98064"/>
            <a:ext cx="123444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2743200"/>
            <a:ext cx="87325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CSV import and AI explain-only layer for the upcoming demo increment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1234440" cy="384048"/>
          </a:xfrm>
          <a:prstGeom prst="roundRect">
            <a:avLst/>
          </a:prstGeom>
          <a:solidFill>
            <a:srgbClr val="E2EAF9"/>
          </a:solidFill>
          <a:ln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3A5BA9"/>
                </a:solidFill>
              </a:defRPr>
            </a:pPr>
            <a:r>
              <a:t>Reviewed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456432"/>
            <a:ext cx="87325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AI-assisted code review + manual SRS workflow checks + CI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REVIEW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53712"/>
            <a:ext cx="480060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C44044"/>
                </a:solidFill>
              </a:defRPr>
            </a:pPr>
            <a:r>
              <a:t>High: hosted CSRF/cookie behavior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Resolved by Caddy same-origin /api proxy and Railway staging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553712"/>
            <a:ext cx="480060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8E5D16"/>
                </a:solidFill>
              </a:defRPr>
            </a:pPr>
            <a:r>
              <a:t>Medium: API existed before full workflow</a:t>
            </a:r>
          </a:p>
          <a:p>
            <a:pPr>
              <a:spcAft>
                <a:spcPts val="0"/>
              </a:spcAft>
              <a:defRPr sz="1100">
                <a:solidFill>
                  <a:srgbClr val="1F232B"/>
                </a:solidFill>
              </a:defRPr>
            </a:pPr>
            <a:r>
              <a:t>Goal archive gap was treated as a spec-conformance issue, not merely a backend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Test &amp; Verification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Guarding against the spec-conformance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0574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45720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Unit</a:t>
            </a: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pace-engine golden tests</a:t>
            </a:r>
            <a:endParaRPr sz="12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format/label utilities</a:t>
            </a:r>
            <a:endParaRPr sz="12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service rules</a:t>
            </a:r>
            <a:endParaRPr sz="120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63240" y="1371600"/>
            <a:ext cx="20574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45720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Integration</a:t>
            </a: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API routes</a:t>
            </a:r>
            <a:endParaRPr sz="12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CSRF/session behavior</a:t>
            </a:r>
            <a:endParaRPr sz="12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200"/>
              <a:t>repository/database tests</a:t>
            </a:r>
            <a:endParaRPr sz="12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13248" y="1371600"/>
            <a:ext cx="20574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45720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CI gates</a:t>
            </a: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backend check</a:t>
            </a:r>
            <a:endParaRPr sz="14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frontend check</a:t>
            </a:r>
            <a:endParaRPr sz="14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migration smoke</a:t>
            </a:r>
            <a:endParaRPr sz="14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Docker build</a:t>
            </a:r>
            <a:endParaRPr sz="140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54112" y="1371600"/>
            <a:ext cx="20574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45720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Acceptance</a:t>
            </a: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manual staging flow</a:t>
            </a:r>
            <a:endParaRPr sz="14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SRS traceability</a:t>
            </a:r>
            <a:endParaRPr sz="1400"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defRPr sz="1000">
                <a:solidFill>
                  <a:srgbClr val="1F232B"/>
                </a:solidFill>
              </a:defRPr>
            </a:pPr>
            <a:r>
              <a:rPr sz="1400"/>
              <a:t>review findings</a:t>
            </a:r>
            <a:endParaRPr sz="1400">
              <a:ea typeface="Calibri"/>
              <a:cs typeface="Calibri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770632" y="2039112"/>
            <a:ext cx="292608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2039112"/>
            <a:ext cx="292608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70648" y="2039112"/>
            <a:ext cx="283464" cy="0"/>
          </a:xfrm>
          <a:prstGeom prst="line">
            <a:avLst/>
          </a:prstGeom>
          <a:ln w="17780">
            <a:solidFill>
              <a:srgbClr val="3A5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429000"/>
            <a:ext cx="4617720" cy="1508760"/>
          </a:xfrm>
          <a:prstGeom prst="roundRect">
            <a:avLst/>
          </a:prstGeom>
          <a:solidFill>
            <a:srgbClr val="E2F3EB"/>
          </a:solidFill>
          <a:ln w="15240">
            <a:solidFill>
              <a:srgbClr val="2E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2E7D53"/>
                </a:solidFill>
              </a:defRPr>
            </a:pPr>
            <a:r>
              <a:t>Spec-conformance trap</a:t>
            </a:r>
          </a:p>
          <a:p>
            <a:pPr>
              <a:spcAft>
                <a:spcPts val="0"/>
              </a:spcAft>
              <a:defRPr sz="1300">
                <a:solidFill>
                  <a:srgbClr val="1F232B"/>
                </a:solidFill>
              </a:defRPr>
            </a:pPr>
            <a:r>
              <a:t>We verify user-visible workflows, not just code existence. Backend support is not counted complete until the frontend workflow, validation, permissions, and staging behavior are exercised.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429000"/>
            <a:ext cx="4526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AI verification rule</a:t>
            </a:r>
          </a:p>
          <a:p>
            <a:pPr>
              <a:spcAft>
                <a:spcPts val="0"/>
              </a:spcAft>
              <a:defRPr sz="1300">
                <a:solidFill>
                  <a:srgbClr val="1F232B"/>
                </a:solidFill>
              </a:defRPr>
            </a:pPr>
            <a:r>
              <a:t>AI can draft code, reviews, diagrams, and checklists. The team owns final decisions, tests, SRS mapping, and security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A5BA9"/>
                </a:solidFill>
              </a:defRPr>
            </a:pPr>
            <a:r>
              <a:t>Risks, Schedule, and Plan 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87182"/>
                </a:solidFill>
              </a:defRPr>
            </a:pPr>
            <a:r>
              <a:t>Active risk management for the final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2103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8E5D16"/>
                </a:solidFill>
              </a:defRPr>
            </a:pPr>
            <a:r>
              <a:t>Scope creep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261872"/>
            <a:ext cx="7818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Add CSV and AI as bounded next increments without moving calculation out of pace-v1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79"/>
            <a:ext cx="2103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8E5D16"/>
                </a:solidFill>
              </a:defRPr>
            </a:pPr>
            <a:r>
              <a:t>Deployment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011679"/>
            <a:ext cx="7818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Use Railway staging, Caddy /api proxy, health checks, and env-var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61487"/>
            <a:ext cx="2103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8E5D16"/>
                </a:solidFill>
              </a:defRPr>
            </a:pPr>
            <a:r>
              <a:t>Calculation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761487"/>
            <a:ext cx="7818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Protect deterministic engine with golden tests, integer cents, snapshots, formula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11295"/>
            <a:ext cx="2103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8E5D16"/>
                </a:solidFill>
              </a:defRPr>
            </a:pPr>
            <a:r>
              <a:t>UX completeness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511295"/>
            <a:ext cx="7818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C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82F5C"/>
                </a:solidFill>
              </a:defRPr>
            </a:pPr>
            <a:r>
              <a:t>Streamline the UI, reduce friction, improve intuitive flow, and preserve demo path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6177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87182"/>
                </a:solidFill>
              </a:defRPr>
            </a:pPr>
            <a:r>
              <a:t>REMAINING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5604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32B"/>
                </a:solidFill>
              </a:defRPr>
            </a:pPr>
            <a:r>
              <a:t>Finalize CDR feedback → streamline UI → security pass → broaden acceptance testing → prepare final demo and release notes.</a:t>
            </a:r>
          </a:p>
          <a:p>
            <a:pPr>
              <a:spcAft>
                <a:spcPts val="600"/>
              </a:spcAft>
              <a:defRPr sz="1350">
                <a:solidFill>
                  <a:srgbClr val="1F232B"/>
                </a:solidFill>
              </a:defRPr>
            </a:pPr>
            <a:r>
              <a:t>Team status: on track, with CSV import and AI summaries positioned as demo increments on top of the verified 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182"/>
                </a:solidFill>
              </a:defRPr>
            </a:pPr>
            <a:r>
              <a:t>GoalWise — Critical Design Review · MSCS 2101 · Aug 22,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1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2026-08-22T21:59:05Z</dcterms:modified>
  <cp:category/>
</cp:coreProperties>
</file>