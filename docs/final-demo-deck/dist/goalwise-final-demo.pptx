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Open with the user problem, then state the engineering claim: GoalWise is intentionally narrow so the calculation and demo can be defended.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Make the scope explicit. This prevents the audience from evaluating the project as a full Mint-style budget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Walk left to right: browser, API, services, pace engine, snapshots, dashboard. Emphasize the frontend does not copy the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This is the strongest architecture decision. Use claim, evidence, alternative, risk, mitigation, falsifier.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Tie this to auditability: the system can explain what it showed at the time without mutating old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Explain that these are not decorative backend details; they define whether a hosted financial demo is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Be precise about the boundary. The course can ask about AI use, so separate runtime behavior from development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Say what testing proves and one honest gap if asked: it does not prove production load behavior or every future financial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Keep this slide short. It is the handoff into the live app, not another architecture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21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DCCB"/>
                </a:solidFill>
              </a:rPr>
              <a:t>GRADUATE CS FINAL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GoalWise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0848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F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focused planning loop for one savings goal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0" y="713232"/>
            <a:ext cx="5394960" cy="5394960"/>
          </a:xfrm>
          <a:prstGeom prst="arc">
            <a:avLst/>
          </a:prstGeom>
          <a:noFill/>
          <a:ln w="25400">
            <a:solidFill>
              <a:srgbClr val="CB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34072" y="2157984"/>
            <a:ext cx="1417320" cy="1417320"/>
          </a:xfrm>
          <a:prstGeom prst="ellipse">
            <a:avLst/>
          </a:prstGeom>
          <a:solidFill>
            <a:srgbClr val="DDEDE5"/>
          </a:solidFill>
          <a:ln w="15240">
            <a:solidFill>
              <a:srgbClr val="1B6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4072" y="24048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806440" y="442569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2472" y="4343400"/>
            <a:ext cx="5029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question: am I on pace, and what can I safely spend this week?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5084064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5001768"/>
            <a:ext cx="5029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claim: deterministic backend outputs make the answer explainable and defensible.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881360" y="62910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narrow MVP beats a broad budget app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 deliberately optimizes around one active goal and manual assumptions.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2461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8346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9352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69848" y="360273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active goal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69848" y="4041648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95935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assumptions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69848" y="4480560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39826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results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606040"/>
            <a:ext cx="32461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28346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9352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edge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64608" y="3602736"/>
            <a:ext cx="118872" cy="118872"/>
          </a:xfrm>
          <a:prstGeom prst="ellipse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CSV import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64608" y="4041648"/>
            <a:ext cx="118872" cy="118872"/>
          </a:xfrm>
          <a:prstGeom prst="ellipse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95935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then confirm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64608" y="4480560"/>
            <a:ext cx="118872" cy="118872"/>
          </a:xfrm>
          <a:prstGeom prst="ellipse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39826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inputs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66760" y="2606040"/>
            <a:ext cx="32461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28346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293522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Deferred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59368" y="3602736"/>
            <a:ext cx="118872" cy="118872"/>
          </a:xfrm>
          <a:prstGeom prst="ellipse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3520440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 sync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59368" y="4041648"/>
            <a:ext cx="118872" cy="118872"/>
          </a:xfrm>
          <a:prstGeom prst="ellipse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395935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transactions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59368" y="4480560"/>
            <a:ext cx="118872" cy="118872"/>
          </a:xfrm>
          <a:prstGeom prst="ellipse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439826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Multi-goal support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financial core is isolated and auditable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renders values; FastAPI validates, calculates, persists, and explains.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7780">
            <a:solidFill>
              <a:srgbClr val="244C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C7A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" y="32461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A"/>
                </a:solidFill>
              </a:rPr>
              <a:t>renders backend values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3282696"/>
            <a:ext cx="548640" cy="0"/>
          </a:xfrm>
          <a:prstGeom prst="line">
            <a:avLst/>
          </a:prstGeom>
          <a:noFill/>
          <a:ln w="13970">
            <a:solidFill>
              <a:srgbClr val="60706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2743200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7780">
            <a:solidFill>
              <a:srgbClr val="1B6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B"/>
                </a:solidFill>
              </a:rPr>
              <a:t>FastAPI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18104" y="32461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A"/>
                </a:solidFill>
              </a:rPr>
              <a:t>auth, validation, ownership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3282696"/>
            <a:ext cx="548640" cy="0"/>
          </a:xfrm>
          <a:prstGeom prst="line">
            <a:avLst/>
          </a:prstGeom>
          <a:noFill/>
          <a:ln w="13970">
            <a:solidFill>
              <a:srgbClr val="60706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2743200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7780">
            <a:solidFill>
              <a:srgbClr val="D08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8B2E"/>
                </a:solidFill>
              </a:rPr>
              <a:t>pace-v1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04104" y="32461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A"/>
                </a:solidFill>
              </a:rPr>
              <a:t>deterministic engine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95160" y="3282696"/>
            <a:ext cx="548640" cy="0"/>
          </a:xfrm>
          <a:prstGeom prst="line">
            <a:avLst/>
          </a:prstGeom>
          <a:noFill/>
          <a:ln w="13970">
            <a:solidFill>
              <a:srgbClr val="60706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2743200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7780">
            <a:solidFill>
              <a:srgbClr val="1B6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B"/>
                </a:solidFill>
              </a:rPr>
              <a:t>Snapshots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90104" y="32461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A"/>
                </a:solidFill>
              </a:rPr>
              <a:t>immutable history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281160" y="3282696"/>
            <a:ext cx="548640" cy="0"/>
          </a:xfrm>
          <a:prstGeom prst="line">
            <a:avLst/>
          </a:prstGeom>
          <a:noFill/>
          <a:ln w="13970">
            <a:solidFill>
              <a:srgbClr val="60706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2743200"/>
            <a:ext cx="1737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7780">
            <a:solidFill>
              <a:srgbClr val="244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4C7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76104" y="324612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6A"/>
                </a:solidFill>
              </a:rPr>
              <a:t>read model JSON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60120" y="488289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480060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 frontend over versioned /api/v1 JSON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60120" y="520293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512064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service layer owns validation and ownership checks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60120" y="552297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544068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pace engine returns deterministic pace-v1 results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60120" y="584301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16152" y="576072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SQLAlchemy/Alembic persist PostgreSQL-compatible records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60120" y="616305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6152" y="608076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and dashboard read model expose committed results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pace-v1, no AI in the money path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outputs must be reproducible for identical inputs.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98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safe-to-spend, shortfall, and pace status come from a deterministic engine.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974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pace-engine contract and golden tests target stable results.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36676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0450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AI-generated calculations would be harder to verify.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65176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A23E3E"/>
          </a:solidFill>
          <a:ln w="12700">
            <a:solidFill>
              <a:srgbClr val="A2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8950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simple formulas may feel less adaptive than personalized advice.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4652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8426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keep explanations separate from the calculation authority.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 snapshots make results defensible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committed calculation keeps normalized inputs and versioned results.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98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calculations are stored as immutable snapshots after input changes.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974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snapshot schema and repository tests protect stored results.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36676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0450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recompute-only history would hide what the user saw.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65176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A23E3E"/>
          </a:solidFill>
          <a:ln w="12700">
            <a:solidFill>
              <a:srgbClr val="A2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8950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snapshots add storage and schema discipline.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4652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8426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store normalized aggregate inputs, not raw transaction descriptions.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boundaries match the hosted demo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CSRF, ownership checks, and Railway config are treated as product behavior.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498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HTTP-only server-side sessions with hashed opaque tokens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974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CSRF required for authenticated unsafe methods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366760" y="242316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62432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27249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04504" y="313639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Cross-user private resource access returns 404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65176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A23E3E"/>
          </a:solidFill>
          <a:ln w="12700">
            <a:solidFill>
              <a:srgbClr val="A2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8950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Railway uses secure cookies, explicit origin allowlists, and PostgreSQL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46520" y="457200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4773168"/>
            <a:ext cx="987552" cy="384048"/>
          </a:xfrm>
          <a:prstGeom prst="roundRect">
            <a:avLst>
              <a:gd name="adj" fmla="val 14286"/>
            </a:avLst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87375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84264" y="52852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1C"/>
                </a:solidFill>
              </a:rPr>
              <a:t>unauthorized or cross-user access fails without leaking private data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useful at the edge, not in control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runtime AI layer explains committed snapshots and can fail without blocking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2148840" cy="1005840"/>
          </a:xfrm>
          <a:prstGeom prst="chevron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Snapshot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committed aggregate fields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03320" y="2743200"/>
            <a:ext cx="2148840" cy="1005840"/>
          </a:xfrm>
          <a:prstGeom prst="chevron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971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digest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3246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bounded prose only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92240" y="2743200"/>
            <a:ext cx="2148840" cy="1005840"/>
          </a:xfrm>
          <a:prstGeom prst="chevron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971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schema + snapshot match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81160" y="2743200"/>
            <a:ext cx="2148840" cy="1005840"/>
          </a:xfrm>
          <a:prstGeom prst="chevron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9718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3246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renders backend numbers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" y="470001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4617720"/>
            <a:ext cx="9601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Allowed: explanation prose from minimized aggregate snapshot fields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5084064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32" y="5001768"/>
            <a:ext cx="9601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Allowed: development support for tests, diagrams, review, and slides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5468112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5385816"/>
            <a:ext cx="9601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Blocked: AI calculating, overriding, or recommending official money outputs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" y="5852160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5769864"/>
            <a:ext cx="96012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gate: schema validation, snapshot matching, and human claim approval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target the risky contracts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strongest where correctness, privacy, and deployment could fail.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2148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7889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B"/>
                </a:solidFill>
              </a:rPr>
              <a:t>Calculation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06A"/>
                </a:solidFill>
              </a:rPr>
              <a:t>golden scenarios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611880" y="2514600"/>
            <a:ext cx="2148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7889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C7A"/>
                </a:solidFill>
              </a:rPr>
              <a:t>Privacy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76472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06A"/>
                </a:solidFill>
              </a:rPr>
              <a:t>cross-user tests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55080" y="2514600"/>
            <a:ext cx="2148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7889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8B2E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06A"/>
                </a:solidFill>
              </a:rPr>
              <a:t>migration smoke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98280" y="2514600"/>
            <a:ext cx="2148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27889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4B"/>
                </a:solidFill>
              </a:rPr>
              <a:t>Frontend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62872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0706A"/>
                </a:solidFill>
              </a:rPr>
              <a:t>lint + build + capture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005840" y="4882896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4800600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Pace-engine golden scenarios for calculation behavior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05840" y="5193792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5111496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tests for auth, dashboard, financial inputs, CSV import, and AI explanations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05840" y="5504688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5422392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Cross-user access tests for ownership isolation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005840" y="5815584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5733288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smoke checks for PostgreSQL-compatible persistence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005840" y="6126480"/>
            <a:ext cx="118872" cy="11887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1872" y="6044184"/>
            <a:ext cx="9875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lint, TypeScript, Vite build, and visual capture scripts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82528" y="2011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CONTRACT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we will prove the core path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is scoped to value, safe failure, and engineering evidence.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713232" cy="713232"/>
          </a:xfrm>
          <a:prstGeom prst="ellipse">
            <a:avLst/>
          </a:prstGeom>
          <a:solidFill>
            <a:srgbClr val="1B6B4B"/>
          </a:solidFill>
          <a:ln w="12700">
            <a:solidFill>
              <a:srgbClr val="1B6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56232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1C"/>
                </a:solidFill>
              </a:rPr>
              <a:t>Value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56232" y="31546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0706A"/>
                </a:solidFill>
              </a:rPr>
              <a:t>View weekly safe-to-spend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713232" cy="713232"/>
          </a:xfrm>
          <a:prstGeom prst="ellipse">
            <a:avLst/>
          </a:prstGeom>
          <a:solidFill>
            <a:srgbClr val="D08B2E"/>
          </a:solidFill>
          <a:ln w="12700">
            <a:solidFill>
              <a:srgbClr val="D08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59552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1C"/>
                </a:solidFill>
              </a:rPr>
              <a:t>Failure path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59552" y="31546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0706A"/>
                </a:solidFill>
              </a:rPr>
              <a:t>Invalid or unauthorized access fails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366760" y="2788920"/>
            <a:ext cx="713232" cy="713232"/>
          </a:xfrm>
          <a:prstGeom prst="ellipse">
            <a:avLst/>
          </a:prstGeom>
          <a:solidFill>
            <a:srgbClr val="244C7A"/>
          </a:solidFill>
          <a:ln w="12700">
            <a:solidFill>
              <a:srgbClr val="244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62872" y="27889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1C"/>
                </a:solidFill>
              </a:rPr>
              <a:t>Evidence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31546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0706A"/>
                </a:solidFill>
              </a:rPr>
              <a:t>Show snapshot, checks, or deployment proof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143000" y="4846320"/>
            <a:ext cx="9875520" cy="658368"/>
          </a:xfrm>
          <a:prstGeom prst="roundRect">
            <a:avLst>
              <a:gd name="adj" fmla="val 6944"/>
            </a:avLst>
          </a:prstGeom>
          <a:solidFill>
            <a:srgbClr val="17201C"/>
          </a:solidFill>
          <a:ln w="12700">
            <a:solidFill>
              <a:srgbClr val="172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505663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Switch to the live GoalWise app, then use terminal evidence only after the product path is clear.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6400800"/>
            <a:ext cx="10835640" cy="0"/>
          </a:xfrm>
          <a:prstGeom prst="line">
            <a:avLst/>
          </a:prstGeom>
          <a:noFill/>
          <a:ln w="9525">
            <a:solidFill>
              <a:srgbClr val="CB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Backend-owned calculations | Immutable snapshots | Explain-only AI boundary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GoalWise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GoalWise Final Demo</dc:title>
  <dc:subject>Graduate CS final demo</dc:subject>
  <dc:creator>GoalWise Team</dc:creator>
  <cp:lastModifiedBy>GoalWise Team</cp:lastModifiedBy>
  <cp:revision>1</cp:revision>
  <dcterms:created xsi:type="dcterms:W3CDTF">2026-09-11T00:53:48Z</dcterms:created>
  <dcterms:modified xsi:type="dcterms:W3CDTF">2026-09-11T00:53:48Z</dcterms:modified>
</cp:coreProperties>
</file>