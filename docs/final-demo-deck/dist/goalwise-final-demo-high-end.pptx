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0:45. Open with the user problem, then state the engineering claim: GoalWise is intentionally narrow so the calculation and demo can be defended.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0:55. Make the scope explicit. This prevents the audience from evaluating the project as a full Mint-style budget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Walk left to right: browser, API, services, pace engine, snapshots, dashboard. Emphasize the frontend does not copy the formula.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This is the strongest architecture decision. Use claim, evidence, alternative, risk, mitigation, falsifier.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0:55. Tie this to auditability: the system can explain what it showed at the time without mutating old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0:55. Explain that these are not decorative backend details; they define whether a hosted financial demo is trustworthy.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0:55. Be precise about the boundary. The course can ask about AI use, so separate runtime behavior from development assistance.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Say what testing proves and one honest gap if asked: it does not prove production load behavior or every future financial scenario.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0:25. Keep this slide short. It is the handoff into the live app, not another architecture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3"/>
          </a:solidFill>
          <a:ln w="12700">
            <a:solidFill>
              <a:srgbClr val="1014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442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471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77724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128016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178308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228600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278892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29184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79476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429768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480060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530352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580644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630936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" y="429768"/>
            <a:ext cx="11247120" cy="0"/>
          </a:xfrm>
          <a:prstGeom prst="line">
            <a:avLst/>
          </a:prstGeom>
          <a:noFill/>
          <a:ln w="10160">
            <a:solidFill>
              <a:srgbClr val="3241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2560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AA2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GOALWISE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192256" y="25603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AA2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75488" y="6419088"/>
            <a:ext cx="11247120" cy="36576"/>
          </a:xfrm>
          <a:prstGeom prst="rect">
            <a:avLst/>
          </a:prstGeom>
          <a:solidFill>
            <a:srgbClr val="8BD8B0"/>
          </a:solidFill>
          <a:ln w="12700">
            <a:solidFill>
              <a:srgbClr val="8BD8B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3"/>
          </a:solidFill>
          <a:ln w="12700">
            <a:solidFill>
              <a:srgbClr val="10141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1792" y="713232"/>
            <a:ext cx="146304" cy="5257800"/>
          </a:xfrm>
          <a:prstGeom prst="rect">
            <a:avLst/>
          </a:prstGeom>
          <a:solidFill>
            <a:srgbClr val="0F7A50"/>
          </a:solidFill>
          <a:ln w="12700">
            <a:solidFill>
              <a:srgbClr val="0F7A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51560" y="9326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D8B0"/>
                </a:solidFill>
              </a:rPr>
              <a:t>GRADUATE CS FINAL DEMO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87552" y="1335024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900" b="1" dirty="0">
                <a:solidFill>
                  <a:srgbClr val="F6F1E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GoalWise</a:t>
            </a:r>
            <a:endParaRPr lang="en-US" sz="4900" dirty="0"/>
          </a:p>
        </p:txBody>
      </p:sp>
      <p:sp>
        <p:nvSpPr>
          <p:cNvPr id="45" name="Text 43"/>
          <p:cNvSpPr/>
          <p:nvPr/>
        </p:nvSpPr>
        <p:spPr>
          <a:xfrm>
            <a:off x="1033272" y="2148840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8CEC4"/>
                </a:solidFill>
              </a:rPr>
              <a:t>a defensible planning loop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6400800" y="914400"/>
            <a:ext cx="4023360" cy="4023360"/>
          </a:xfrm>
          <a:prstGeom prst="arc">
            <a:avLst/>
          </a:prstGeom>
          <a:noFill/>
          <a:ln w="27940">
            <a:solidFill>
              <a:srgbClr val="8BD8B0">
                <a:alpha val="9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03720" y="1417320"/>
            <a:ext cx="3017520" cy="3017520"/>
          </a:xfrm>
          <a:prstGeom prst="arc">
            <a:avLst/>
          </a:prstGeom>
          <a:noFill/>
          <a:ln w="19050">
            <a:solidFill>
              <a:srgbClr val="E6A83B">
                <a:alpha val="8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708392" y="2157984"/>
            <a:ext cx="1508760" cy="1508760"/>
          </a:xfrm>
          <a:prstGeom prst="ellipse">
            <a:avLst/>
          </a:prstGeom>
          <a:solidFill>
            <a:srgbClr val="172C25"/>
          </a:solidFill>
          <a:ln w="16510">
            <a:solidFill>
              <a:srgbClr val="0F7A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08392" y="2395728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BD8B0"/>
                </a:solidFill>
              </a:rPr>
              <a:t>$</a:t>
            </a:r>
            <a:endParaRPr lang="en-US" sz="3400" dirty="0"/>
          </a:p>
        </p:txBody>
      </p:sp>
      <p:sp>
        <p:nvSpPr>
          <p:cNvPr id="50" name="Shape 48"/>
          <p:cNvSpPr/>
          <p:nvPr/>
        </p:nvSpPr>
        <p:spPr>
          <a:xfrm>
            <a:off x="6263640" y="4983480"/>
            <a:ext cx="1627632" cy="749808"/>
          </a:xfrm>
          <a:prstGeom prst="rect">
            <a:avLst/>
          </a:prstGeom>
          <a:solidFill>
            <a:srgbClr val="17201C"/>
          </a:solidFill>
          <a:ln w="10160">
            <a:solidFill>
              <a:srgbClr val="30413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73368" y="5111496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A50"/>
                </a:solidFill>
              </a:rPr>
              <a:t>ONE GOAL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373368" y="5394960"/>
            <a:ext cx="1408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DB3A8"/>
                </a:solidFill>
              </a:rPr>
              <a:t>MVP scope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8119872" y="4983480"/>
            <a:ext cx="1627632" cy="749808"/>
          </a:xfrm>
          <a:prstGeom prst="rect">
            <a:avLst/>
          </a:prstGeom>
          <a:solidFill>
            <a:srgbClr val="17201C"/>
          </a:solidFill>
          <a:ln w="10160">
            <a:solidFill>
              <a:srgbClr val="30413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29600" y="5111496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PACE-v1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229600" y="5394960"/>
            <a:ext cx="1408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DB3A8"/>
                </a:solidFill>
              </a:rPr>
              <a:t>deterministic core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9976104" y="4983480"/>
            <a:ext cx="1627632" cy="749808"/>
          </a:xfrm>
          <a:prstGeom prst="rect">
            <a:avLst/>
          </a:prstGeom>
          <a:solidFill>
            <a:srgbClr val="17201C"/>
          </a:solidFill>
          <a:ln w="10160">
            <a:solidFill>
              <a:srgbClr val="30413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085832" y="5111496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A83B"/>
                </a:solidFill>
              </a:rPr>
              <a:t>AI EDGE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0085832" y="5394960"/>
            <a:ext cx="1408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DB3A8"/>
                </a:solidFill>
              </a:rPr>
              <a:t>explain only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1051560" y="502920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7E4DD"/>
                </a:solidFill>
              </a:rPr>
              <a:t>User question: am I on pace, and what can I safely spend this week?  /  Success claim: deterministic backend outputs make the answer explainable and defensible.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4"/>
          </a:solidFill>
          <a:ln w="12700">
            <a:solidFill>
              <a:srgbClr val="FCFA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442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471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77724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128016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178308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228600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278892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29184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79476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429768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480060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530352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580644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630936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" y="429768"/>
            <a:ext cx="11247120" cy="0"/>
          </a:xfrm>
          <a:prstGeom prst="line">
            <a:avLst/>
          </a:prstGeom>
          <a:noFill/>
          <a:ln w="10160">
            <a:solidFill>
              <a:srgbClr val="B9C7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2560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8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GOALWISE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192256" y="25603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8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75488" y="6419088"/>
            <a:ext cx="11247120" cy="36576"/>
          </a:xfrm>
          <a:prstGeom prst="rect">
            <a:avLst/>
          </a:prstGeom>
          <a:solidFill>
            <a:srgbClr val="0F7A50"/>
          </a:solidFill>
          <a:ln w="12700">
            <a:solidFill>
              <a:srgbClr val="0F7A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76809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A50"/>
                </a:solidFill>
              </a:rPr>
              <a:t>PRODUCT SCOPE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58368" y="106984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2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narrow MVP beats a broad budget app</a:t>
            </a:r>
            <a:endParaRPr lang="en-US" sz="2700" dirty="0"/>
          </a:p>
        </p:txBody>
      </p:sp>
      <p:sp>
        <p:nvSpPr>
          <p:cNvPr id="43" name="Text 41"/>
          <p:cNvSpPr/>
          <p:nvPr/>
        </p:nvSpPr>
        <p:spPr>
          <a:xfrm>
            <a:off x="676656" y="176479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66F"/>
                </a:solidFill>
              </a:rPr>
              <a:t>GoalWise deliberately optimizes around one active goal and manual assumptions.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49808" y="2578608"/>
            <a:ext cx="3246120" cy="2670048"/>
          </a:xfrm>
          <a:prstGeom prst="rect">
            <a:avLst/>
          </a:prstGeom>
          <a:solidFill>
            <a:srgbClr val="F5FBF7"/>
          </a:solidFill>
          <a:ln w="12700">
            <a:solidFill>
              <a:srgbClr val="0F7A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50976" y="281635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7A50"/>
                </a:solidFill>
              </a:rPr>
              <a:t>CURRENT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950976" y="31363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21F"/>
                </a:solidFill>
              </a:rPr>
              <a:t>What the demo can defend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969264" y="3858768"/>
            <a:ext cx="155448" cy="0"/>
          </a:xfrm>
          <a:prstGeom prst="line">
            <a:avLst/>
          </a:prstGeom>
          <a:noFill/>
          <a:ln w="15240">
            <a:solidFill>
              <a:srgbClr val="0F7A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225296" y="3749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8221F"/>
                </a:solidFill>
              </a:rPr>
              <a:t>one active savings goal</a:t>
            </a:r>
            <a:endParaRPr lang="en-US" sz="1010" dirty="0"/>
          </a:p>
        </p:txBody>
      </p:sp>
      <p:sp>
        <p:nvSpPr>
          <p:cNvPr id="49" name="Shape 47"/>
          <p:cNvSpPr/>
          <p:nvPr/>
        </p:nvSpPr>
        <p:spPr>
          <a:xfrm>
            <a:off x="969264" y="4242816"/>
            <a:ext cx="155448" cy="0"/>
          </a:xfrm>
          <a:prstGeom prst="line">
            <a:avLst/>
          </a:prstGeom>
          <a:noFill/>
          <a:ln w="15240">
            <a:solidFill>
              <a:srgbClr val="0F7A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225296" y="41330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8221F"/>
                </a:solidFill>
              </a:rPr>
              <a:t>manual assumptions</a:t>
            </a:r>
            <a:endParaRPr lang="en-US" sz="1010" dirty="0"/>
          </a:p>
        </p:txBody>
      </p:sp>
      <p:sp>
        <p:nvSpPr>
          <p:cNvPr id="51" name="Shape 49"/>
          <p:cNvSpPr/>
          <p:nvPr/>
        </p:nvSpPr>
        <p:spPr>
          <a:xfrm>
            <a:off x="969264" y="4626864"/>
            <a:ext cx="155448" cy="0"/>
          </a:xfrm>
          <a:prstGeom prst="line">
            <a:avLst/>
          </a:prstGeom>
          <a:noFill/>
          <a:ln w="15240">
            <a:solidFill>
              <a:srgbClr val="0F7A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25296" y="45171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8221F"/>
                </a:solidFill>
              </a:rPr>
              <a:t>safe-to-spend + status</a:t>
            </a:r>
            <a:endParaRPr lang="en-US" sz="1010" dirty="0"/>
          </a:p>
        </p:txBody>
      </p:sp>
      <p:sp>
        <p:nvSpPr>
          <p:cNvPr id="53" name="Shape 51"/>
          <p:cNvSpPr/>
          <p:nvPr/>
        </p:nvSpPr>
        <p:spPr>
          <a:xfrm>
            <a:off x="4517136" y="2578608"/>
            <a:ext cx="3246120" cy="2670048"/>
          </a:xfrm>
          <a:prstGeom prst="rect">
            <a:avLst/>
          </a:prstGeom>
          <a:solidFill>
            <a:srgbClr val="F4F8FC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18304" y="281635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563A8"/>
                </a:solidFill>
              </a:rPr>
              <a:t>EDGE</a:t>
            </a:r>
            <a:endParaRPr lang="en-US" sz="780" dirty="0"/>
          </a:p>
        </p:txBody>
      </p:sp>
      <p:sp>
        <p:nvSpPr>
          <p:cNvPr id="55" name="Text 53"/>
          <p:cNvSpPr/>
          <p:nvPr/>
        </p:nvSpPr>
        <p:spPr>
          <a:xfrm>
            <a:off x="4718304" y="31363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21F"/>
                </a:solidFill>
              </a:rPr>
              <a:t>Accepted but controlled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4736592" y="3858768"/>
            <a:ext cx="155448" cy="0"/>
          </a:xfrm>
          <a:prstGeom prst="line">
            <a:avLst/>
          </a:prstGeom>
          <a:noFill/>
          <a:ln w="15240">
            <a:solidFill>
              <a:srgbClr val="2563A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92624" y="3749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8221F"/>
                </a:solidFill>
              </a:rPr>
              <a:t>CSV preview + confirmation</a:t>
            </a:r>
            <a:endParaRPr lang="en-US" sz="1010" dirty="0"/>
          </a:p>
        </p:txBody>
      </p:sp>
      <p:sp>
        <p:nvSpPr>
          <p:cNvPr id="58" name="Shape 56"/>
          <p:cNvSpPr/>
          <p:nvPr/>
        </p:nvSpPr>
        <p:spPr>
          <a:xfrm>
            <a:off x="4736592" y="4242816"/>
            <a:ext cx="155448" cy="0"/>
          </a:xfrm>
          <a:prstGeom prst="line">
            <a:avLst/>
          </a:prstGeom>
          <a:noFill/>
          <a:ln w="15240">
            <a:solidFill>
              <a:srgbClr val="2563A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92624" y="41330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8221F"/>
                </a:solidFill>
              </a:rPr>
              <a:t>optional AI explanation</a:t>
            </a:r>
            <a:endParaRPr lang="en-US" sz="1010" dirty="0"/>
          </a:p>
        </p:txBody>
      </p:sp>
      <p:sp>
        <p:nvSpPr>
          <p:cNvPr id="60" name="Shape 58"/>
          <p:cNvSpPr/>
          <p:nvPr/>
        </p:nvSpPr>
        <p:spPr>
          <a:xfrm>
            <a:off x="4736592" y="4626864"/>
            <a:ext cx="155448" cy="0"/>
          </a:xfrm>
          <a:prstGeom prst="line">
            <a:avLst/>
          </a:prstGeom>
          <a:noFill/>
          <a:ln w="15240">
            <a:solidFill>
              <a:srgbClr val="2563A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92624" y="45171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8221F"/>
                </a:solidFill>
              </a:rPr>
              <a:t>snapshot-scoped summaries</a:t>
            </a:r>
            <a:endParaRPr lang="en-US" sz="1010" dirty="0"/>
          </a:p>
        </p:txBody>
      </p:sp>
      <p:sp>
        <p:nvSpPr>
          <p:cNvPr id="62" name="Shape 60"/>
          <p:cNvSpPr/>
          <p:nvPr/>
        </p:nvSpPr>
        <p:spPr>
          <a:xfrm>
            <a:off x="8284464" y="2578608"/>
            <a:ext cx="3246120" cy="2670048"/>
          </a:xfrm>
          <a:prstGeom prst="rect">
            <a:avLst/>
          </a:prstGeom>
          <a:solidFill>
            <a:srgbClr val="FFF8F5"/>
          </a:solidFill>
          <a:ln w="12700">
            <a:solidFill>
              <a:srgbClr val="D85F4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485632" y="281635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85F4B"/>
                </a:solidFill>
              </a:rPr>
              <a:t>DEFERRED</a:t>
            </a:r>
            <a:endParaRPr lang="en-US" sz="780" dirty="0"/>
          </a:p>
        </p:txBody>
      </p:sp>
      <p:sp>
        <p:nvSpPr>
          <p:cNvPr id="64" name="Text 62"/>
          <p:cNvSpPr/>
          <p:nvPr/>
        </p:nvSpPr>
        <p:spPr>
          <a:xfrm>
            <a:off x="8485632" y="31363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21F"/>
                </a:solidFill>
              </a:rPr>
              <a:t>Named honestly</a:t>
            </a:r>
            <a:endParaRPr lang="en-US" sz="1250" dirty="0"/>
          </a:p>
        </p:txBody>
      </p:sp>
      <p:sp>
        <p:nvSpPr>
          <p:cNvPr id="65" name="Shape 63"/>
          <p:cNvSpPr/>
          <p:nvPr/>
        </p:nvSpPr>
        <p:spPr>
          <a:xfrm>
            <a:off x="8503920" y="3858768"/>
            <a:ext cx="155448" cy="0"/>
          </a:xfrm>
          <a:prstGeom prst="line">
            <a:avLst/>
          </a:prstGeom>
          <a:noFill/>
          <a:ln w="15240">
            <a:solidFill>
              <a:srgbClr val="D85F4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759952" y="3749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8221F"/>
                </a:solidFill>
              </a:rPr>
              <a:t>bank sync</a:t>
            </a:r>
            <a:endParaRPr lang="en-US" sz="1010" dirty="0"/>
          </a:p>
        </p:txBody>
      </p:sp>
      <p:sp>
        <p:nvSpPr>
          <p:cNvPr id="67" name="Shape 65"/>
          <p:cNvSpPr/>
          <p:nvPr/>
        </p:nvSpPr>
        <p:spPr>
          <a:xfrm>
            <a:off x="8503920" y="4242816"/>
            <a:ext cx="155448" cy="0"/>
          </a:xfrm>
          <a:prstGeom prst="line">
            <a:avLst/>
          </a:prstGeom>
          <a:noFill/>
          <a:ln w="15240">
            <a:solidFill>
              <a:srgbClr val="D85F4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759952" y="41330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8221F"/>
                </a:solidFill>
              </a:rPr>
              <a:t>raw transaction import</a:t>
            </a:r>
            <a:endParaRPr lang="en-US" sz="1010" dirty="0"/>
          </a:p>
        </p:txBody>
      </p:sp>
      <p:sp>
        <p:nvSpPr>
          <p:cNvPr id="69" name="Shape 67"/>
          <p:cNvSpPr/>
          <p:nvPr/>
        </p:nvSpPr>
        <p:spPr>
          <a:xfrm>
            <a:off x="8503920" y="4626864"/>
            <a:ext cx="155448" cy="0"/>
          </a:xfrm>
          <a:prstGeom prst="line">
            <a:avLst/>
          </a:prstGeom>
          <a:noFill/>
          <a:ln w="15240">
            <a:solidFill>
              <a:srgbClr val="D85F4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759952" y="45171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8221F"/>
                </a:solidFill>
              </a:rPr>
              <a:t>multi-goal planning</a:t>
            </a:r>
            <a:endParaRPr lang="en-US" sz="10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3"/>
          </a:solidFill>
          <a:ln w="12700">
            <a:solidFill>
              <a:srgbClr val="1014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442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471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77724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128016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178308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228600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278892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29184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79476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429768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480060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530352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580644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630936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" y="429768"/>
            <a:ext cx="11247120" cy="0"/>
          </a:xfrm>
          <a:prstGeom prst="line">
            <a:avLst/>
          </a:prstGeom>
          <a:noFill/>
          <a:ln w="10160">
            <a:solidFill>
              <a:srgbClr val="3241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2560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AA2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GOALWISE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192256" y="25603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AA2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75488" y="6419088"/>
            <a:ext cx="11247120" cy="36576"/>
          </a:xfrm>
          <a:prstGeom prst="rect">
            <a:avLst/>
          </a:prstGeom>
          <a:solidFill>
            <a:srgbClr val="8BD8B0"/>
          </a:solidFill>
          <a:ln w="12700">
            <a:solidFill>
              <a:srgbClr val="8BD8B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76809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D8B0"/>
                </a:solidFill>
              </a:rPr>
              <a:t>SYSTEM ARCHITECTURE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58368" y="106984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6F1E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financial core is isolated and auditable</a:t>
            </a:r>
            <a:endParaRPr lang="en-US" sz="2700" dirty="0"/>
          </a:p>
        </p:txBody>
      </p:sp>
      <p:sp>
        <p:nvSpPr>
          <p:cNvPr id="43" name="Text 41"/>
          <p:cNvSpPr/>
          <p:nvPr/>
        </p:nvSpPr>
        <p:spPr>
          <a:xfrm>
            <a:off x="676656" y="176479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EBFB6"/>
                </a:solidFill>
              </a:rPr>
              <a:t>React renders values; FastAPI validates, calculates, persists, and explains.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31520" y="2788920"/>
            <a:ext cx="1572768" cy="969264"/>
          </a:xfrm>
          <a:prstGeom prst="rect">
            <a:avLst/>
          </a:prstGeom>
          <a:solidFill>
            <a:srgbClr val="17201C"/>
          </a:solidFill>
          <a:ln w="13970">
            <a:solidFill>
              <a:srgbClr val="38BDF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1248" y="299008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Browser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41248" y="330098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AEBFB6"/>
                </a:solidFill>
              </a:rPr>
              <a:t>React renders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304288" y="3273552"/>
            <a:ext cx="603504" cy="0"/>
          </a:xfrm>
          <a:prstGeom prst="line">
            <a:avLst/>
          </a:prstGeom>
          <a:noFill/>
          <a:ln w="13970">
            <a:solidFill>
              <a:srgbClr val="6C8377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2907792" y="2788920"/>
            <a:ext cx="1572768" cy="969264"/>
          </a:xfrm>
          <a:prstGeom prst="rect">
            <a:avLst/>
          </a:prstGeom>
          <a:solidFill>
            <a:srgbClr val="17201C"/>
          </a:solidFill>
          <a:ln w="13970">
            <a:solidFill>
              <a:srgbClr val="8BD8B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0" y="299008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D8B0"/>
                </a:solidFill>
              </a:rPr>
              <a:t>API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017520" y="330098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AEBFB6"/>
                </a:solidFill>
              </a:rPr>
              <a:t>FastAPI /api/v1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480560" y="3273552"/>
            <a:ext cx="603504" cy="0"/>
          </a:xfrm>
          <a:prstGeom prst="line">
            <a:avLst/>
          </a:prstGeom>
          <a:noFill/>
          <a:ln w="13970">
            <a:solidFill>
              <a:srgbClr val="6C8377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5074920" y="2788920"/>
            <a:ext cx="1572768" cy="969264"/>
          </a:xfrm>
          <a:prstGeom prst="rect">
            <a:avLst/>
          </a:prstGeom>
          <a:solidFill>
            <a:srgbClr val="17201C"/>
          </a:solidFill>
          <a:ln w="13970">
            <a:solidFill>
              <a:srgbClr val="E6A83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84648" y="299008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A83B"/>
                </a:solidFill>
              </a:rPr>
              <a:t>Services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184648" y="330098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AEBFB6"/>
                </a:solidFill>
              </a:rPr>
              <a:t>ownership + normalize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647688" y="3273552"/>
            <a:ext cx="603504" cy="0"/>
          </a:xfrm>
          <a:prstGeom prst="line">
            <a:avLst/>
          </a:prstGeom>
          <a:noFill/>
          <a:ln w="13970">
            <a:solidFill>
              <a:srgbClr val="6C8377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7242048" y="2788920"/>
            <a:ext cx="1572768" cy="969264"/>
          </a:xfrm>
          <a:prstGeom prst="rect">
            <a:avLst/>
          </a:prstGeom>
          <a:solidFill>
            <a:srgbClr val="17201C"/>
          </a:solidFill>
          <a:ln w="13970">
            <a:solidFill>
              <a:srgbClr val="0F7A5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51776" y="299008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A50"/>
                </a:solidFill>
              </a:rPr>
              <a:t>pace-v1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351776" y="330098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AEBFB6"/>
                </a:solidFill>
              </a:rPr>
              <a:t>pure calculation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8814816" y="3273552"/>
            <a:ext cx="603504" cy="0"/>
          </a:xfrm>
          <a:prstGeom prst="line">
            <a:avLst/>
          </a:prstGeom>
          <a:noFill/>
          <a:ln w="13970">
            <a:solidFill>
              <a:srgbClr val="6C8377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9418320" y="2788920"/>
            <a:ext cx="1572768" cy="969264"/>
          </a:xfrm>
          <a:prstGeom prst="rect">
            <a:avLst/>
          </a:prstGeom>
          <a:solidFill>
            <a:srgbClr val="17201C"/>
          </a:solidFill>
          <a:ln w="13970">
            <a:solidFill>
              <a:srgbClr val="38BDF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528048" y="299008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Snapshots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9528048" y="330098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AEBFB6"/>
                </a:solidFill>
              </a:rPr>
              <a:t>immutable audit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86384" y="4800600"/>
            <a:ext cx="10378440" cy="566928"/>
          </a:xfrm>
          <a:prstGeom prst="rect">
            <a:avLst/>
          </a:prstGeom>
          <a:solidFill>
            <a:srgbClr val="17201C"/>
          </a:solidFill>
          <a:ln w="12700">
            <a:solidFill>
              <a:srgbClr val="31443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24128" y="4983480"/>
            <a:ext cx="989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F1E7"/>
                </a:solidFill>
              </a:rPr>
              <a:t>Frontend formats and visualizes; the backend owns official financial outputs.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4"/>
          </a:solidFill>
          <a:ln w="12700">
            <a:solidFill>
              <a:srgbClr val="FCFA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442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471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77724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128016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178308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228600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278892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29184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79476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429768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480060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530352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580644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630936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" y="429768"/>
            <a:ext cx="11247120" cy="0"/>
          </a:xfrm>
          <a:prstGeom prst="line">
            <a:avLst/>
          </a:prstGeom>
          <a:noFill/>
          <a:ln w="10160">
            <a:solidFill>
              <a:srgbClr val="B9C7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2560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8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GOALWISE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192256" y="25603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8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75488" y="6419088"/>
            <a:ext cx="11247120" cy="36576"/>
          </a:xfrm>
          <a:prstGeom prst="rect">
            <a:avLst/>
          </a:prstGeom>
          <a:solidFill>
            <a:srgbClr val="0F7A50"/>
          </a:solidFill>
          <a:ln w="12700">
            <a:solidFill>
              <a:srgbClr val="0F7A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76809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A50"/>
                </a:solidFill>
              </a:rPr>
              <a:t>DECISION 1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58368" y="106984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2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Deterministic pace-v1, no AI in the money path</a:t>
            </a:r>
            <a:endParaRPr lang="en-US" sz="2700" dirty="0"/>
          </a:p>
        </p:txBody>
      </p:sp>
      <p:sp>
        <p:nvSpPr>
          <p:cNvPr id="43" name="Text 41"/>
          <p:cNvSpPr/>
          <p:nvPr/>
        </p:nvSpPr>
        <p:spPr>
          <a:xfrm>
            <a:off x="676656" y="176479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66F"/>
                </a:solidFill>
              </a:rPr>
              <a:t>Financial outputs must be reproducible for identical inputs.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49808" y="2523744"/>
            <a:ext cx="4892040" cy="1280160"/>
          </a:xfrm>
          <a:prstGeom prst="rect">
            <a:avLst/>
          </a:prstGeom>
          <a:solidFill>
            <a:srgbClr val="F3FBF7"/>
          </a:solidFill>
          <a:ln w="17780">
            <a:solidFill>
              <a:srgbClr val="0F7A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2688" y="26883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0F7A50"/>
                </a:solidFill>
              </a:rPr>
              <a:t>CLAIM</a:t>
            </a:r>
            <a:endParaRPr lang="en-US" sz="730" dirty="0"/>
          </a:p>
        </p:txBody>
      </p:sp>
      <p:sp>
        <p:nvSpPr>
          <p:cNvPr id="46" name="Text 44"/>
          <p:cNvSpPr/>
          <p:nvPr/>
        </p:nvSpPr>
        <p:spPr>
          <a:xfrm>
            <a:off x="950976" y="29992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21F"/>
                </a:solidFill>
              </a:rPr>
              <a:t>safe-to-spend, shortfall, and pace status come from a deterministic engine.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190488" y="2523744"/>
            <a:ext cx="4892040" cy="1280160"/>
          </a:xfrm>
          <a:prstGeom prst="rect">
            <a:avLst/>
          </a:prstGeom>
          <a:solidFill>
            <a:srgbClr val="FFFFFF"/>
          </a:solidFill>
          <a:ln w="10160">
            <a:solidFill>
              <a:srgbClr val="2563A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73368" y="26883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2563A8"/>
                </a:solidFill>
              </a:rPr>
              <a:t>EVIDENCE</a:t>
            </a:r>
            <a:endParaRPr lang="en-US" sz="730" dirty="0"/>
          </a:p>
        </p:txBody>
      </p:sp>
      <p:sp>
        <p:nvSpPr>
          <p:cNvPr id="49" name="Text 47"/>
          <p:cNvSpPr/>
          <p:nvPr/>
        </p:nvSpPr>
        <p:spPr>
          <a:xfrm>
            <a:off x="6391656" y="29992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8221F"/>
                </a:solidFill>
              </a:rPr>
              <a:t>pace-engine contract and golden tests target stable results.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49808" y="4617720"/>
            <a:ext cx="315468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E6A8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2688" y="478231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E6A83B"/>
                </a:solidFill>
              </a:rPr>
              <a:t>REJECTED ALTERNATIVE</a:t>
            </a:r>
            <a:endParaRPr lang="en-US" sz="730" dirty="0"/>
          </a:p>
        </p:txBody>
      </p:sp>
      <p:sp>
        <p:nvSpPr>
          <p:cNvPr id="52" name="Text 50"/>
          <p:cNvSpPr/>
          <p:nvPr/>
        </p:nvSpPr>
        <p:spPr>
          <a:xfrm>
            <a:off x="950976" y="50932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8221F"/>
                </a:solidFill>
              </a:rPr>
              <a:t>AI-generated calculations would be harder to verify.</a:t>
            </a:r>
            <a:endParaRPr lang="en-US" sz="960" dirty="0"/>
          </a:p>
        </p:txBody>
      </p:sp>
      <p:sp>
        <p:nvSpPr>
          <p:cNvPr id="53" name="Shape 51"/>
          <p:cNvSpPr/>
          <p:nvPr/>
        </p:nvSpPr>
        <p:spPr>
          <a:xfrm>
            <a:off x="4389120" y="4617720"/>
            <a:ext cx="315468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5F4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0" y="478231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D85F4B"/>
                </a:solidFill>
              </a:rPr>
              <a:t>RISK</a:t>
            </a:r>
            <a:endParaRPr lang="en-US" sz="730" dirty="0"/>
          </a:p>
        </p:txBody>
      </p:sp>
      <p:sp>
        <p:nvSpPr>
          <p:cNvPr id="55" name="Text 53"/>
          <p:cNvSpPr/>
          <p:nvPr/>
        </p:nvSpPr>
        <p:spPr>
          <a:xfrm>
            <a:off x="4590288" y="50932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8221F"/>
                </a:solidFill>
              </a:rPr>
              <a:t>simple formulas may feel less adaptive than personalized advice.</a:t>
            </a:r>
            <a:endParaRPr lang="en-US" sz="960" dirty="0"/>
          </a:p>
        </p:txBody>
      </p:sp>
      <p:sp>
        <p:nvSpPr>
          <p:cNvPr id="56" name="Shape 54"/>
          <p:cNvSpPr/>
          <p:nvPr/>
        </p:nvSpPr>
        <p:spPr>
          <a:xfrm>
            <a:off x="8028432" y="4617720"/>
            <a:ext cx="315468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0F7A5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11312" y="478231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0F7A50"/>
                </a:solidFill>
              </a:rPr>
              <a:t>MITIGATION</a:t>
            </a:r>
            <a:endParaRPr lang="en-US" sz="730" dirty="0"/>
          </a:p>
        </p:txBody>
      </p:sp>
      <p:sp>
        <p:nvSpPr>
          <p:cNvPr id="58" name="Text 56"/>
          <p:cNvSpPr/>
          <p:nvPr/>
        </p:nvSpPr>
        <p:spPr>
          <a:xfrm>
            <a:off x="8229600" y="50932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8221F"/>
                </a:solidFill>
              </a:rPr>
              <a:t>keep explanations separate from the calculation authority.</a:t>
            </a:r>
            <a:endParaRPr lang="en-US" sz="9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4"/>
          </a:solidFill>
          <a:ln w="12700">
            <a:solidFill>
              <a:srgbClr val="FCFA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442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471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77724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128016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178308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228600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278892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29184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79476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429768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480060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530352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580644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630936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" y="429768"/>
            <a:ext cx="11247120" cy="0"/>
          </a:xfrm>
          <a:prstGeom prst="line">
            <a:avLst/>
          </a:prstGeom>
          <a:noFill/>
          <a:ln w="10160">
            <a:solidFill>
              <a:srgbClr val="B9C7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2560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8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GOALWISE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192256" y="25603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8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75488" y="6419088"/>
            <a:ext cx="11247120" cy="36576"/>
          </a:xfrm>
          <a:prstGeom prst="rect">
            <a:avLst/>
          </a:prstGeom>
          <a:solidFill>
            <a:srgbClr val="0F7A50"/>
          </a:solidFill>
          <a:ln w="12700">
            <a:solidFill>
              <a:srgbClr val="0F7A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76809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A50"/>
                </a:solidFill>
              </a:rPr>
              <a:t>DECISION 2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58368" y="106984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2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Immutable snapshots make results defensible</a:t>
            </a:r>
            <a:endParaRPr lang="en-US" sz="2700" dirty="0"/>
          </a:p>
        </p:txBody>
      </p:sp>
      <p:sp>
        <p:nvSpPr>
          <p:cNvPr id="43" name="Text 41"/>
          <p:cNvSpPr/>
          <p:nvPr/>
        </p:nvSpPr>
        <p:spPr>
          <a:xfrm>
            <a:off x="676656" y="176479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66F"/>
                </a:solidFill>
              </a:rPr>
              <a:t>Every committed calculation keeps normalized inputs and versioned results.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49808" y="2523744"/>
            <a:ext cx="4892040" cy="1280160"/>
          </a:xfrm>
          <a:prstGeom prst="rect">
            <a:avLst/>
          </a:prstGeom>
          <a:solidFill>
            <a:srgbClr val="F3FBF7"/>
          </a:solidFill>
          <a:ln w="17780">
            <a:solidFill>
              <a:srgbClr val="0F7A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2688" y="26883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0F7A50"/>
                </a:solidFill>
              </a:rPr>
              <a:t>CLAIM</a:t>
            </a:r>
            <a:endParaRPr lang="en-US" sz="730" dirty="0"/>
          </a:p>
        </p:txBody>
      </p:sp>
      <p:sp>
        <p:nvSpPr>
          <p:cNvPr id="46" name="Text 44"/>
          <p:cNvSpPr/>
          <p:nvPr/>
        </p:nvSpPr>
        <p:spPr>
          <a:xfrm>
            <a:off x="950976" y="29992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8221F"/>
                </a:solidFill>
              </a:rPr>
              <a:t>calculations are stored as immutable snapshots after input changes.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190488" y="2523744"/>
            <a:ext cx="4892040" cy="1280160"/>
          </a:xfrm>
          <a:prstGeom prst="rect">
            <a:avLst/>
          </a:prstGeom>
          <a:solidFill>
            <a:srgbClr val="FFFFFF"/>
          </a:solidFill>
          <a:ln w="10160">
            <a:solidFill>
              <a:srgbClr val="2563A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73368" y="26883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2563A8"/>
                </a:solidFill>
              </a:rPr>
              <a:t>EVIDENCE</a:t>
            </a:r>
            <a:endParaRPr lang="en-US" sz="730" dirty="0"/>
          </a:p>
        </p:txBody>
      </p:sp>
      <p:sp>
        <p:nvSpPr>
          <p:cNvPr id="49" name="Text 47"/>
          <p:cNvSpPr/>
          <p:nvPr/>
        </p:nvSpPr>
        <p:spPr>
          <a:xfrm>
            <a:off x="6391656" y="29992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8221F"/>
                </a:solidFill>
              </a:rPr>
              <a:t>snapshot schema and repository tests protect stored results.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49808" y="4617720"/>
            <a:ext cx="315468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E6A8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2688" y="478231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E6A83B"/>
                </a:solidFill>
              </a:rPr>
              <a:t>REJECTED ALTERNATIVE</a:t>
            </a:r>
            <a:endParaRPr lang="en-US" sz="730" dirty="0"/>
          </a:p>
        </p:txBody>
      </p:sp>
      <p:sp>
        <p:nvSpPr>
          <p:cNvPr id="52" name="Text 50"/>
          <p:cNvSpPr/>
          <p:nvPr/>
        </p:nvSpPr>
        <p:spPr>
          <a:xfrm>
            <a:off x="950976" y="50932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8221F"/>
                </a:solidFill>
              </a:rPr>
              <a:t>recompute-only history would hide what the user saw.</a:t>
            </a:r>
            <a:endParaRPr lang="en-US" sz="960" dirty="0"/>
          </a:p>
        </p:txBody>
      </p:sp>
      <p:sp>
        <p:nvSpPr>
          <p:cNvPr id="53" name="Shape 51"/>
          <p:cNvSpPr/>
          <p:nvPr/>
        </p:nvSpPr>
        <p:spPr>
          <a:xfrm>
            <a:off x="4389120" y="4617720"/>
            <a:ext cx="315468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5F4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0" y="478231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D85F4B"/>
                </a:solidFill>
              </a:rPr>
              <a:t>RISK</a:t>
            </a:r>
            <a:endParaRPr lang="en-US" sz="730" dirty="0"/>
          </a:p>
        </p:txBody>
      </p:sp>
      <p:sp>
        <p:nvSpPr>
          <p:cNvPr id="55" name="Text 53"/>
          <p:cNvSpPr/>
          <p:nvPr/>
        </p:nvSpPr>
        <p:spPr>
          <a:xfrm>
            <a:off x="4590288" y="50932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8221F"/>
                </a:solidFill>
              </a:rPr>
              <a:t>snapshots add storage and schema discipline.</a:t>
            </a:r>
            <a:endParaRPr lang="en-US" sz="960" dirty="0"/>
          </a:p>
        </p:txBody>
      </p:sp>
      <p:sp>
        <p:nvSpPr>
          <p:cNvPr id="56" name="Shape 54"/>
          <p:cNvSpPr/>
          <p:nvPr/>
        </p:nvSpPr>
        <p:spPr>
          <a:xfrm>
            <a:off x="8028432" y="4617720"/>
            <a:ext cx="315468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0F7A5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11312" y="478231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0F7A50"/>
                </a:solidFill>
              </a:rPr>
              <a:t>MITIGATION</a:t>
            </a:r>
            <a:endParaRPr lang="en-US" sz="730" dirty="0"/>
          </a:p>
        </p:txBody>
      </p:sp>
      <p:sp>
        <p:nvSpPr>
          <p:cNvPr id="58" name="Text 56"/>
          <p:cNvSpPr/>
          <p:nvPr/>
        </p:nvSpPr>
        <p:spPr>
          <a:xfrm>
            <a:off x="8229600" y="50932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8221F"/>
                </a:solidFill>
              </a:rPr>
              <a:t>store normalized aggregate inputs, not raw transaction descriptions.</a:t>
            </a:r>
            <a:endParaRPr lang="en-US" sz="9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4"/>
          </a:solidFill>
          <a:ln w="12700">
            <a:solidFill>
              <a:srgbClr val="FCFA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442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471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77724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128016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178308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228600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278892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29184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79476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429768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480060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530352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580644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630936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" y="429768"/>
            <a:ext cx="11247120" cy="0"/>
          </a:xfrm>
          <a:prstGeom prst="line">
            <a:avLst/>
          </a:prstGeom>
          <a:noFill/>
          <a:ln w="10160">
            <a:solidFill>
              <a:srgbClr val="B9C7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2560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8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GOALWISE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192256" y="25603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8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75488" y="6419088"/>
            <a:ext cx="11247120" cy="36576"/>
          </a:xfrm>
          <a:prstGeom prst="rect">
            <a:avLst/>
          </a:prstGeom>
          <a:solidFill>
            <a:srgbClr val="0F7A50"/>
          </a:solidFill>
          <a:ln w="12700">
            <a:solidFill>
              <a:srgbClr val="0F7A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76809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A50"/>
                </a:solidFill>
              </a:rPr>
              <a:t>DECISION 3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58368" y="106984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2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boundaries match the hosted demo</a:t>
            </a:r>
            <a:endParaRPr lang="en-US" sz="2700" dirty="0"/>
          </a:p>
        </p:txBody>
      </p:sp>
      <p:sp>
        <p:nvSpPr>
          <p:cNvPr id="43" name="Text 41"/>
          <p:cNvSpPr/>
          <p:nvPr/>
        </p:nvSpPr>
        <p:spPr>
          <a:xfrm>
            <a:off x="676656" y="176479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66F"/>
                </a:solidFill>
              </a:rPr>
              <a:t>Auth, CSRF, ownership checks, and Railway config are treated as product behavior.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49808" y="2523744"/>
            <a:ext cx="4892040" cy="1280160"/>
          </a:xfrm>
          <a:prstGeom prst="rect">
            <a:avLst/>
          </a:prstGeom>
          <a:solidFill>
            <a:srgbClr val="F3FBF7"/>
          </a:solidFill>
          <a:ln w="17780">
            <a:solidFill>
              <a:srgbClr val="0F7A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2688" y="26883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0F7A50"/>
                </a:solidFill>
              </a:rPr>
              <a:t>HTTP-ONLY SERVER-SIDE SESSIONS WITH HASHED OPAQUE TOKENS</a:t>
            </a:r>
            <a:endParaRPr lang="en-US" sz="730" dirty="0"/>
          </a:p>
        </p:txBody>
      </p:sp>
      <p:sp>
        <p:nvSpPr>
          <p:cNvPr id="46" name="Text 44"/>
          <p:cNvSpPr/>
          <p:nvPr/>
        </p:nvSpPr>
        <p:spPr>
          <a:xfrm>
            <a:off x="950976" y="29992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190488" y="2523744"/>
            <a:ext cx="4892040" cy="1280160"/>
          </a:xfrm>
          <a:prstGeom prst="rect">
            <a:avLst/>
          </a:prstGeom>
          <a:solidFill>
            <a:srgbClr val="FFFFFF"/>
          </a:solidFill>
          <a:ln w="10160">
            <a:solidFill>
              <a:srgbClr val="2563A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73368" y="26883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2563A8"/>
                </a:solidFill>
              </a:rPr>
              <a:t>CSRF REQUIRED FOR AUTHENTICATED UNSAFE METHODS</a:t>
            </a:r>
            <a:endParaRPr lang="en-US" sz="730" dirty="0"/>
          </a:p>
        </p:txBody>
      </p:sp>
      <p:sp>
        <p:nvSpPr>
          <p:cNvPr id="49" name="Text 47"/>
          <p:cNvSpPr/>
          <p:nvPr/>
        </p:nvSpPr>
        <p:spPr>
          <a:xfrm>
            <a:off x="6391656" y="29992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49808" y="4617720"/>
            <a:ext cx="315468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E6A8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2688" y="478231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E6A83B"/>
                </a:solidFill>
              </a:rPr>
              <a:t>CROSS-USER PRIVATE RESOURCE ACCESS RETURNS 404</a:t>
            </a:r>
            <a:endParaRPr lang="en-US" sz="730" dirty="0"/>
          </a:p>
        </p:txBody>
      </p:sp>
      <p:sp>
        <p:nvSpPr>
          <p:cNvPr id="52" name="Text 50"/>
          <p:cNvSpPr/>
          <p:nvPr/>
        </p:nvSpPr>
        <p:spPr>
          <a:xfrm>
            <a:off x="950976" y="50932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53" name="Shape 51"/>
          <p:cNvSpPr/>
          <p:nvPr/>
        </p:nvSpPr>
        <p:spPr>
          <a:xfrm>
            <a:off x="4389120" y="4617720"/>
            <a:ext cx="315468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5F4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0" y="478231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D85F4B"/>
                </a:solidFill>
              </a:rPr>
              <a:t>RAILWAY USES SECURE COOKIES, EXPLICIT ORIGIN ALLOWLISTS, AND POSTGRESQL</a:t>
            </a:r>
            <a:endParaRPr lang="en-US" sz="730" dirty="0"/>
          </a:p>
        </p:txBody>
      </p:sp>
      <p:sp>
        <p:nvSpPr>
          <p:cNvPr id="55" name="Text 53"/>
          <p:cNvSpPr/>
          <p:nvPr/>
        </p:nvSpPr>
        <p:spPr>
          <a:xfrm>
            <a:off x="4590288" y="50932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56" name="Shape 54"/>
          <p:cNvSpPr/>
          <p:nvPr/>
        </p:nvSpPr>
        <p:spPr>
          <a:xfrm>
            <a:off x="8028432" y="4617720"/>
            <a:ext cx="315468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0F7A5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11312" y="478231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0F7A50"/>
                </a:solidFill>
              </a:rPr>
              <a:t>FAILURE CASE</a:t>
            </a:r>
            <a:endParaRPr lang="en-US" sz="730" dirty="0"/>
          </a:p>
        </p:txBody>
      </p:sp>
      <p:sp>
        <p:nvSpPr>
          <p:cNvPr id="58" name="Text 56"/>
          <p:cNvSpPr/>
          <p:nvPr/>
        </p:nvSpPr>
        <p:spPr>
          <a:xfrm>
            <a:off x="8229600" y="50932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8221F"/>
                </a:solidFill>
              </a:rPr>
              <a:t>unauthorized or cross-user access fails without leaking private data</a:t>
            </a:r>
            <a:endParaRPr lang="en-US" sz="9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3"/>
          </a:solidFill>
          <a:ln w="12700">
            <a:solidFill>
              <a:srgbClr val="1014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442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471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77724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128016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178308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228600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278892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29184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79476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429768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480060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530352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580644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630936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" y="429768"/>
            <a:ext cx="11247120" cy="0"/>
          </a:xfrm>
          <a:prstGeom prst="line">
            <a:avLst/>
          </a:prstGeom>
          <a:noFill/>
          <a:ln w="10160">
            <a:solidFill>
              <a:srgbClr val="3241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2560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AA2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GOALWISE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192256" y="25603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AA2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75488" y="6419088"/>
            <a:ext cx="11247120" cy="36576"/>
          </a:xfrm>
          <a:prstGeom prst="rect">
            <a:avLst/>
          </a:prstGeom>
          <a:solidFill>
            <a:srgbClr val="8BD8B0"/>
          </a:solidFill>
          <a:ln w="12700">
            <a:solidFill>
              <a:srgbClr val="8BD8B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76809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D8B0"/>
                </a:solidFill>
              </a:rPr>
              <a:t>AI AND REVIEW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58368" y="106984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6F1E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is useful at the edge, not in control</a:t>
            </a:r>
            <a:endParaRPr lang="en-US" sz="2700" dirty="0"/>
          </a:p>
        </p:txBody>
      </p:sp>
      <p:sp>
        <p:nvSpPr>
          <p:cNvPr id="43" name="Text 41"/>
          <p:cNvSpPr/>
          <p:nvPr/>
        </p:nvSpPr>
        <p:spPr>
          <a:xfrm>
            <a:off x="676656" y="176479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EBFB6"/>
                </a:solidFill>
              </a:rPr>
              <a:t>The runtime AI layer explains committed snapshots and can fail without blocking planning.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58368" y="2743200"/>
            <a:ext cx="1572768" cy="1170432"/>
          </a:xfrm>
          <a:prstGeom prst="hexagon">
            <a:avLst/>
          </a:prstGeom>
          <a:solidFill>
            <a:srgbClr val="17201C"/>
          </a:solidFill>
          <a:ln w="14605">
            <a:solidFill>
              <a:srgbClr val="0F7A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3816" y="3054096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F7A50"/>
                </a:solidFill>
              </a:rPr>
              <a:t>COMMITTED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813816" y="3310128"/>
            <a:ext cx="12618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C7D8CF"/>
                </a:solidFill>
              </a:rPr>
              <a:t>snapshot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258568" y="3328416"/>
            <a:ext cx="676656" cy="0"/>
          </a:xfrm>
          <a:prstGeom prst="line">
            <a:avLst/>
          </a:prstGeom>
          <a:noFill/>
          <a:ln w="12700">
            <a:solidFill>
              <a:srgbClr val="6C8377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2926080" y="2743200"/>
            <a:ext cx="1572768" cy="1170432"/>
          </a:xfrm>
          <a:prstGeom prst="hexagon">
            <a:avLst/>
          </a:prstGeom>
          <a:solidFill>
            <a:srgbClr val="17201C"/>
          </a:solidFill>
          <a:ln w="14605">
            <a:solidFill>
              <a:srgbClr val="38BDF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81528" y="3054096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8BDF8"/>
                </a:solidFill>
              </a:rPr>
              <a:t>MINIMIZED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3081528" y="3310128"/>
            <a:ext cx="12618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C7D8CF"/>
                </a:solidFill>
              </a:rPr>
              <a:t>aggregate payload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526280" y="3328416"/>
            <a:ext cx="676656" cy="0"/>
          </a:xfrm>
          <a:prstGeom prst="line">
            <a:avLst/>
          </a:prstGeom>
          <a:noFill/>
          <a:ln w="12700">
            <a:solidFill>
              <a:srgbClr val="6C8377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5193792" y="2743200"/>
            <a:ext cx="1572768" cy="1170432"/>
          </a:xfrm>
          <a:prstGeom prst="hexagon">
            <a:avLst/>
          </a:prstGeom>
          <a:solidFill>
            <a:srgbClr val="17201C"/>
          </a:solidFill>
          <a:ln w="14605">
            <a:solidFill>
              <a:srgbClr val="E6A83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49240" y="3054096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6A83B"/>
                </a:solidFill>
              </a:rPr>
              <a:t>GENERATED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5349240" y="3310128"/>
            <a:ext cx="12618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C7D8CF"/>
                </a:solidFill>
              </a:rPr>
              <a:t>explanation prose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793992" y="3328416"/>
            <a:ext cx="676656" cy="0"/>
          </a:xfrm>
          <a:prstGeom prst="line">
            <a:avLst/>
          </a:prstGeom>
          <a:noFill/>
          <a:ln w="12700">
            <a:solidFill>
              <a:srgbClr val="6C8377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7461504" y="2743200"/>
            <a:ext cx="1572768" cy="1170432"/>
          </a:xfrm>
          <a:prstGeom prst="hexagon">
            <a:avLst/>
          </a:prstGeom>
          <a:solidFill>
            <a:srgbClr val="17201C"/>
          </a:solidFill>
          <a:ln w="14605">
            <a:solidFill>
              <a:srgbClr val="8BD8B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16952" y="3054096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8BD8B0"/>
                </a:solidFill>
              </a:rPr>
              <a:t>VALIDATED</a:t>
            </a:r>
            <a:endParaRPr lang="en-US" sz="720" dirty="0"/>
          </a:p>
        </p:txBody>
      </p:sp>
      <p:sp>
        <p:nvSpPr>
          <p:cNvPr id="58" name="Text 56"/>
          <p:cNvSpPr/>
          <p:nvPr/>
        </p:nvSpPr>
        <p:spPr>
          <a:xfrm>
            <a:off x="7616952" y="3310128"/>
            <a:ext cx="12618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C7D8CF"/>
                </a:solidFill>
              </a:rPr>
              <a:t>schema + snapshot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9061704" y="3328416"/>
            <a:ext cx="676656" cy="0"/>
          </a:xfrm>
          <a:prstGeom prst="line">
            <a:avLst/>
          </a:prstGeom>
          <a:noFill/>
          <a:ln w="12700">
            <a:solidFill>
              <a:srgbClr val="6C8377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9729216" y="2743200"/>
            <a:ext cx="1572768" cy="1170432"/>
          </a:xfrm>
          <a:prstGeom prst="hexagon">
            <a:avLst/>
          </a:prstGeom>
          <a:solidFill>
            <a:srgbClr val="17201C"/>
          </a:solidFill>
          <a:ln w="14605">
            <a:solidFill>
              <a:srgbClr val="2563A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884664" y="3054096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563A8"/>
                </a:solidFill>
              </a:rPr>
              <a:t>RENDERED</a:t>
            </a: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9884664" y="3310128"/>
            <a:ext cx="12618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C7D8CF"/>
                </a:solidFill>
              </a:rPr>
              <a:t>backend numbers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1051560" y="4864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1E7"/>
                </a:solidFill>
              </a:rPr>
              <a:t>Runtime AI is allowed to explain a committed calculation. It is not allowed to become the calculator.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4"/>
          </a:solidFill>
          <a:ln w="12700">
            <a:solidFill>
              <a:srgbClr val="FCFA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4420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47120" y="594360"/>
            <a:ext cx="0" cy="557784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77724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128016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178308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228600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278892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29184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79476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429768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480060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530352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580644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6309360"/>
            <a:ext cx="11201400" cy="0"/>
          </a:xfrm>
          <a:prstGeom prst="line">
            <a:avLst/>
          </a:prstGeom>
          <a:noFill/>
          <a:ln w="4445">
            <a:solidFill>
              <a:srgbClr val="EEF2EE">
                <a:alpha val="7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" y="429768"/>
            <a:ext cx="11247120" cy="0"/>
          </a:xfrm>
          <a:prstGeom prst="line">
            <a:avLst/>
          </a:prstGeom>
          <a:noFill/>
          <a:ln w="10160">
            <a:solidFill>
              <a:srgbClr val="B9C7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2560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8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GOALWISE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192256" y="25603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8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75488" y="6419088"/>
            <a:ext cx="11247120" cy="36576"/>
          </a:xfrm>
          <a:prstGeom prst="rect">
            <a:avLst/>
          </a:prstGeom>
          <a:solidFill>
            <a:srgbClr val="0F7A50"/>
          </a:solidFill>
          <a:ln w="12700">
            <a:solidFill>
              <a:srgbClr val="0F7A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76809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A50"/>
                </a:solidFill>
              </a:rPr>
              <a:t>VERIFICATION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58368" y="106984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2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Tests target the risky contracts</a:t>
            </a:r>
            <a:endParaRPr lang="en-US" sz="2700" dirty="0"/>
          </a:p>
        </p:txBody>
      </p:sp>
      <p:sp>
        <p:nvSpPr>
          <p:cNvPr id="43" name="Text 41"/>
          <p:cNvSpPr/>
          <p:nvPr/>
        </p:nvSpPr>
        <p:spPr>
          <a:xfrm>
            <a:off x="676656" y="176479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66F"/>
                </a:solidFill>
              </a:rPr>
              <a:t>The evidence is strongest where correctness, privacy, and deployment could fail.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914400" y="257860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21F"/>
                </a:solidFill>
              </a:rPr>
              <a:t>pace golden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606040" y="2606040"/>
            <a:ext cx="6858000" cy="164592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06040" y="2606040"/>
            <a:ext cx="6309360" cy="164592"/>
          </a:xfrm>
          <a:prstGeom prst="rect">
            <a:avLst/>
          </a:prstGeom>
          <a:solidFill>
            <a:srgbClr val="0F7A50"/>
          </a:solidFill>
          <a:ln w="12700">
            <a:solidFill>
              <a:srgbClr val="0F7A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323697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21F"/>
                </a:solidFill>
              </a:rPr>
              <a:t>API + auth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606040" y="3264408"/>
            <a:ext cx="6858000" cy="164592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606040" y="3264408"/>
            <a:ext cx="5760720" cy="16459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4400" y="389534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21F"/>
                </a:solidFill>
              </a:rPr>
              <a:t>migration smoke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606040" y="3922776"/>
            <a:ext cx="6858000" cy="164592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606040" y="3922776"/>
            <a:ext cx="4937760" cy="164592"/>
          </a:xfrm>
          <a:prstGeom prst="rect">
            <a:avLst/>
          </a:prstGeom>
          <a:solidFill>
            <a:srgbClr val="E6A83B"/>
          </a:solidFill>
          <a:ln w="12700">
            <a:solidFill>
              <a:srgbClr val="E6A83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4400" y="455371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21F"/>
                </a:solidFill>
              </a:rPr>
              <a:t>frontend checks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606040" y="4581144"/>
            <a:ext cx="6858000" cy="164592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606040" y="4581144"/>
            <a:ext cx="5349240" cy="164592"/>
          </a:xfrm>
          <a:prstGeom prst="rect">
            <a:avLst/>
          </a:prstGeom>
          <a:solidFill>
            <a:srgbClr val="D85F4B"/>
          </a:solidFill>
          <a:ln w="12700">
            <a:solidFill>
              <a:srgbClr val="D85F4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875520" y="2578608"/>
            <a:ext cx="1371600" cy="2788920"/>
          </a:xfrm>
          <a:prstGeom prst="rect">
            <a:avLst/>
          </a:prstGeom>
          <a:solidFill>
            <a:srgbClr val="18221F"/>
          </a:solidFill>
          <a:ln w="12700">
            <a:solidFill>
              <a:srgbClr val="18221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058400" y="28803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A83B"/>
                </a:solidFill>
              </a:rPr>
              <a:t>Known gap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040112" y="3401568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F1E7"/>
                </a:solidFill>
              </a:rPr>
              <a:t>Tests prove contracts, not production load.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3"/>
          </a:solidFill>
          <a:ln w="12700">
            <a:solidFill>
              <a:srgbClr val="1014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4420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47120" y="594360"/>
            <a:ext cx="0" cy="557784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77724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128016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178308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228600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278892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29184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79476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429768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480060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530352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580644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6309360"/>
            <a:ext cx="11201400" cy="0"/>
          </a:xfrm>
          <a:prstGeom prst="line">
            <a:avLst/>
          </a:prstGeom>
          <a:noFill/>
          <a:ln w="4445">
            <a:solidFill>
              <a:srgbClr val="1B2421">
                <a:alpha val="7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" y="429768"/>
            <a:ext cx="11247120" cy="0"/>
          </a:xfrm>
          <a:prstGeom prst="line">
            <a:avLst/>
          </a:prstGeom>
          <a:noFill/>
          <a:ln w="10160">
            <a:solidFill>
              <a:srgbClr val="3241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2560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AA2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GOALWISE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192256" y="25603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AA2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75488" y="6419088"/>
            <a:ext cx="11247120" cy="36576"/>
          </a:xfrm>
          <a:prstGeom prst="rect">
            <a:avLst/>
          </a:prstGeom>
          <a:solidFill>
            <a:srgbClr val="8BD8B0"/>
          </a:solidFill>
          <a:ln w="12700">
            <a:solidFill>
              <a:srgbClr val="8BD8B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76809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D8B0"/>
                </a:solidFill>
              </a:rPr>
              <a:t>LIVE DEMO CONTRACT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58368" y="106984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6F1E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Now we will prove the core path</a:t>
            </a:r>
            <a:endParaRPr lang="en-US" sz="2700" dirty="0"/>
          </a:p>
        </p:txBody>
      </p:sp>
      <p:sp>
        <p:nvSpPr>
          <p:cNvPr id="43" name="Text 41"/>
          <p:cNvSpPr/>
          <p:nvPr/>
        </p:nvSpPr>
        <p:spPr>
          <a:xfrm>
            <a:off x="676656" y="176479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EBFB6"/>
                </a:solidFill>
              </a:rPr>
              <a:t>The demo is scoped to value, safe failure, and engineering evidence.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960120" y="265176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A50"/>
                </a:solidFill>
              </a:rPr>
              <a:t>01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960120" y="3127248"/>
            <a:ext cx="2651760" cy="0"/>
          </a:xfrm>
          <a:prstGeom prst="line">
            <a:avLst/>
          </a:prstGeom>
          <a:noFill/>
          <a:ln w="20320">
            <a:solidFill>
              <a:srgbClr val="0F7A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0120" y="33649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1E7"/>
                </a:solidFill>
              </a:rPr>
              <a:t>Value path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960120" y="378561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FD1C8"/>
                </a:solidFill>
              </a:rPr>
              <a:t>Load plan and read weekly safe-to-spend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663440" y="265176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A83B"/>
                </a:solidFill>
              </a:rPr>
              <a:t>02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4663440" y="3127248"/>
            <a:ext cx="2651760" cy="0"/>
          </a:xfrm>
          <a:prstGeom prst="line">
            <a:avLst/>
          </a:prstGeom>
          <a:noFill/>
          <a:ln w="20320">
            <a:solidFill>
              <a:srgbClr val="E6A83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63440" y="33649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1E7"/>
                </a:solidFill>
              </a:rPr>
              <a:t>Failure path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4663440" y="378561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FD1C8"/>
                </a:solidFill>
              </a:rPr>
              <a:t>Invalid or unauthorized access fails safely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366760" y="2651760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</a:rPr>
              <a:t>03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8366760" y="3127248"/>
            <a:ext cx="2651760" cy="0"/>
          </a:xfrm>
          <a:prstGeom prst="line">
            <a:avLst/>
          </a:prstGeom>
          <a:noFill/>
          <a:ln w="20320">
            <a:solidFill>
              <a:srgbClr val="38BDF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66760" y="33649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1E7"/>
                </a:solidFill>
              </a:rPr>
              <a:t>Evidence path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8366760" y="378561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FD1C8"/>
                </a:solidFill>
              </a:rPr>
              <a:t>Show snapshot and test/deploy proof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987552" y="532180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BD8B0"/>
                </a:solidFill>
              </a:rPr>
              <a:t>Deck stops here. Product proof starts in the browser.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GoalWise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GoalWise Final Demo - High-End</dc:title>
  <dc:subject>Graduate CS final demo</dc:subject>
  <dc:creator>GoalWise Team</dc:creator>
  <cp:lastModifiedBy>GoalWise Team</cp:lastModifiedBy>
  <cp:revision>1</cp:revision>
  <dcterms:created xsi:type="dcterms:W3CDTF">2026-09-11T01:05:57Z</dcterms:created>
  <dcterms:modified xsi:type="dcterms:W3CDTF">2026-09-11T01:05:57Z</dcterms:modified>
</cp:coreProperties>
</file>