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0:45. Start with the product question. Explain that the scope is intentionally small: one goal, manual inputs, and a backend calculation the team can explain.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0:55. Define the product boundary before discussing architecture. The important point is that the implementation is scoped to the planning loop, not general personal finance.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1:00. Walk through the request path: browser to API, service validation, pace engine, snapshot, dashboard response. State clearly that React does not duplicate the formula.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1:00. Present this as the main technical decision. The calculation has to be testable and repeatable because it affects financial guidance.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0:55. Explain why this matters for review. The app can show what was calculated at a point in time instead of silently changing history.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0:55. Explain that security is part of the product contract. Financial data only makes sense if ownership checks are enforced at the backend.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0:55. Separate runtime AI from development assistance. The runtime feature is explanation only; the financial result comes from pace-v1.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1:00. Tie the test groups back to the architecture. Mention the honest limit: these checks do not prove production load behavior or every future financial scenario.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0:25. Keep this as the handoff. The next screen should be the app, not another explanation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32413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8BD8B0"/>
          </a:solidFill>
          <a:ln w="12700">
            <a:solidFill>
              <a:srgbClr val="8BD8B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1792" y="713232"/>
            <a:ext cx="146304" cy="5257800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51560" y="93268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BD8B0"/>
                </a:solidFill>
              </a:rPr>
              <a:t>GRADUATE CS FINAL DEMO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987552" y="1335024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900" b="1" dirty="0">
                <a:solidFill>
                  <a:srgbClr val="F6F1E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GoalWise</a:t>
            </a:r>
            <a:endParaRPr lang="en-US" sz="4900" dirty="0"/>
          </a:p>
        </p:txBody>
      </p:sp>
      <p:sp>
        <p:nvSpPr>
          <p:cNvPr id="45" name="Text 43"/>
          <p:cNvSpPr/>
          <p:nvPr/>
        </p:nvSpPr>
        <p:spPr>
          <a:xfrm>
            <a:off x="1033272" y="2148840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8CEC4"/>
                </a:solidFill>
              </a:rPr>
              <a:t>weekly planning from explicit assumptions</a:t>
            </a:r>
            <a:endParaRPr lang="en-US" sz="1700" dirty="0"/>
          </a:p>
        </p:txBody>
      </p:sp>
      <p:pic>
        <p:nvPicPr>
          <p:cNvPr id="46" name="Image 0" descr="/Users/nati/Documents/Personal_Nati/VS_code_stuff/2026/sofia/goal-wise/.worktrees/final-demo-deck/docs/final-demo-deck/assets/goalwise-main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658368"/>
            <a:ext cx="4709160" cy="4709160"/>
          </a:xfrm>
          <a:prstGeom prst="rect">
            <a:avLst/>
          </a:prstGeom>
        </p:spPr>
      </p:pic>
      <p:sp>
        <p:nvSpPr>
          <p:cNvPr id="47" name="Shape 44"/>
          <p:cNvSpPr/>
          <p:nvPr/>
        </p:nvSpPr>
        <p:spPr>
          <a:xfrm>
            <a:off x="6263640" y="4983480"/>
            <a:ext cx="1627632" cy="749808"/>
          </a:xfrm>
          <a:prstGeom prst="rect">
            <a:avLst/>
          </a:prstGeom>
          <a:solidFill>
            <a:srgbClr val="17201C"/>
          </a:solidFill>
          <a:ln w="10160">
            <a:solidFill>
              <a:srgbClr val="304139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6373368" y="5111496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7A50"/>
                </a:solidFill>
              </a:rPr>
              <a:t>ONE GOAL</a:t>
            </a:r>
            <a:endParaRPr lang="en-US" sz="1250" dirty="0"/>
          </a:p>
        </p:txBody>
      </p:sp>
      <p:sp>
        <p:nvSpPr>
          <p:cNvPr id="49" name="Text 46"/>
          <p:cNvSpPr/>
          <p:nvPr/>
        </p:nvSpPr>
        <p:spPr>
          <a:xfrm>
            <a:off x="6373368" y="5394960"/>
            <a:ext cx="14081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DB3A8"/>
                </a:solidFill>
              </a:rPr>
              <a:t>MVP scope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8119872" y="4983480"/>
            <a:ext cx="1627632" cy="749808"/>
          </a:xfrm>
          <a:prstGeom prst="rect">
            <a:avLst/>
          </a:prstGeom>
          <a:solidFill>
            <a:srgbClr val="17201C"/>
          </a:solidFill>
          <a:ln w="10160">
            <a:solidFill>
              <a:srgbClr val="304139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8229600" y="5111496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A8"/>
                </a:solidFill>
              </a:rPr>
              <a:t>PACE-v1</a:t>
            </a:r>
            <a:endParaRPr lang="en-US" sz="1250" dirty="0"/>
          </a:p>
        </p:txBody>
      </p:sp>
      <p:sp>
        <p:nvSpPr>
          <p:cNvPr id="52" name="Text 49"/>
          <p:cNvSpPr/>
          <p:nvPr/>
        </p:nvSpPr>
        <p:spPr>
          <a:xfrm>
            <a:off x="8229600" y="5394960"/>
            <a:ext cx="14081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DB3A8"/>
                </a:solidFill>
              </a:rPr>
              <a:t>deterministic core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9976104" y="4983480"/>
            <a:ext cx="1627632" cy="749808"/>
          </a:xfrm>
          <a:prstGeom prst="rect">
            <a:avLst/>
          </a:prstGeom>
          <a:solidFill>
            <a:srgbClr val="17201C"/>
          </a:solidFill>
          <a:ln w="10160">
            <a:solidFill>
              <a:srgbClr val="304139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10085832" y="5111496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6A83B"/>
                </a:solidFill>
              </a:rPr>
              <a:t>AI EDGE</a:t>
            </a:r>
            <a:endParaRPr lang="en-US" sz="1250" dirty="0"/>
          </a:p>
        </p:txBody>
      </p:sp>
      <p:sp>
        <p:nvSpPr>
          <p:cNvPr id="55" name="Text 52"/>
          <p:cNvSpPr/>
          <p:nvPr/>
        </p:nvSpPr>
        <p:spPr>
          <a:xfrm>
            <a:off x="10085832" y="5394960"/>
            <a:ext cx="14081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DB3A8"/>
                </a:solidFill>
              </a:rPr>
              <a:t>explain only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1051560" y="5029200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D7E4DD"/>
                </a:solidFill>
              </a:rPr>
              <a:t>The product answers one question: can the user stay on pace for a target date?  /  The system turns manual assumptions into a weekly safe-to-spend number.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PRODUCT SCOPE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MVP keeps the planning problem bounded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The current system supports one active goal and explicit user-entered assumptions.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49808" y="2578608"/>
            <a:ext cx="3246120" cy="2670048"/>
          </a:xfrm>
          <a:prstGeom prst="rect">
            <a:avLst/>
          </a:prstGeom>
          <a:solidFill>
            <a:srgbClr val="F5FBF7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50976" y="281635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7A50"/>
                </a:solidFill>
              </a:rPr>
              <a:t>CURRENT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950976" y="31363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1F"/>
                </a:solidFill>
              </a:rPr>
              <a:t>What the demo can defend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969264" y="3858768"/>
            <a:ext cx="155448" cy="0"/>
          </a:xfrm>
          <a:prstGeom prst="line">
            <a:avLst/>
          </a:prstGeom>
          <a:noFill/>
          <a:ln w="15240">
            <a:solidFill>
              <a:srgbClr val="0F7A5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225296" y="3749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one active savings goal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969264" y="4242816"/>
            <a:ext cx="155448" cy="0"/>
          </a:xfrm>
          <a:prstGeom prst="line">
            <a:avLst/>
          </a:prstGeom>
          <a:noFill/>
          <a:ln w="15240">
            <a:solidFill>
              <a:srgbClr val="0F7A5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225296" y="41330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manual assumptions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969264" y="4626864"/>
            <a:ext cx="155448" cy="0"/>
          </a:xfrm>
          <a:prstGeom prst="line">
            <a:avLst/>
          </a:prstGeom>
          <a:noFill/>
          <a:ln w="15240">
            <a:solidFill>
              <a:srgbClr val="0F7A5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225296" y="45171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safe-to-spend + status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517136" y="2578608"/>
            <a:ext cx="3246120" cy="2670048"/>
          </a:xfrm>
          <a:prstGeom prst="rect">
            <a:avLst/>
          </a:prstGeom>
          <a:solidFill>
            <a:srgbClr val="F4F8FC"/>
          </a:solidFill>
          <a:ln w="12700">
            <a:solidFill>
              <a:srgbClr val="2563A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281635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563A8"/>
                </a:solidFill>
              </a:rPr>
              <a:t>EDGE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4718304" y="31363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1F"/>
                </a:solidFill>
              </a:rPr>
              <a:t>Accepted but controlled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4736592" y="3858768"/>
            <a:ext cx="155448" cy="0"/>
          </a:xfrm>
          <a:prstGeom prst="line">
            <a:avLst/>
          </a:prstGeom>
          <a:noFill/>
          <a:ln w="15240">
            <a:solidFill>
              <a:srgbClr val="2563A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92624" y="3749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CSV preview + confirmation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4736592" y="4242816"/>
            <a:ext cx="155448" cy="0"/>
          </a:xfrm>
          <a:prstGeom prst="line">
            <a:avLst/>
          </a:prstGeom>
          <a:noFill/>
          <a:ln w="15240">
            <a:solidFill>
              <a:srgbClr val="2563A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92624" y="41330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optional AI explanation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4736592" y="4626864"/>
            <a:ext cx="155448" cy="0"/>
          </a:xfrm>
          <a:prstGeom prst="line">
            <a:avLst/>
          </a:prstGeom>
          <a:noFill/>
          <a:ln w="15240">
            <a:solidFill>
              <a:srgbClr val="2563A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992624" y="45171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snapshot-scoped summaries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8284464" y="2578608"/>
            <a:ext cx="3246120" cy="2670048"/>
          </a:xfrm>
          <a:prstGeom prst="rect">
            <a:avLst/>
          </a:prstGeom>
          <a:solidFill>
            <a:srgbClr val="FFF8F5"/>
          </a:solidFill>
          <a:ln w="12700">
            <a:solidFill>
              <a:srgbClr val="D85F4B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485632" y="281635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85F4B"/>
                </a:solidFill>
              </a:rPr>
              <a:t>DEFERRED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8485632" y="31363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1F"/>
                </a:solidFill>
              </a:rPr>
              <a:t>Named honestly</a:t>
            </a:r>
            <a:endParaRPr lang="en-US" sz="1400" dirty="0"/>
          </a:p>
        </p:txBody>
      </p:sp>
      <p:sp>
        <p:nvSpPr>
          <p:cNvPr id="65" name="Shape 63"/>
          <p:cNvSpPr/>
          <p:nvPr/>
        </p:nvSpPr>
        <p:spPr>
          <a:xfrm>
            <a:off x="8503920" y="3858768"/>
            <a:ext cx="155448" cy="0"/>
          </a:xfrm>
          <a:prstGeom prst="line">
            <a:avLst/>
          </a:prstGeom>
          <a:noFill/>
          <a:ln w="15240">
            <a:solidFill>
              <a:srgbClr val="D85F4B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759952" y="3749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bank sync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8503920" y="4242816"/>
            <a:ext cx="155448" cy="0"/>
          </a:xfrm>
          <a:prstGeom prst="line">
            <a:avLst/>
          </a:prstGeom>
          <a:noFill/>
          <a:ln w="15240">
            <a:solidFill>
              <a:srgbClr val="D85F4B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759952" y="41330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raw transaction import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8503920" y="4626864"/>
            <a:ext cx="155448" cy="0"/>
          </a:xfrm>
          <a:prstGeom prst="line">
            <a:avLst/>
          </a:prstGeom>
          <a:noFill/>
          <a:ln w="15240">
            <a:solidFill>
              <a:srgbClr val="D85F4B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759952" y="45171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multi-goal planning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32413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8BD8B0"/>
          </a:solidFill>
          <a:ln w="12700">
            <a:solidFill>
              <a:srgbClr val="8BD8B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D8B0"/>
                </a:solidFill>
              </a:rPr>
              <a:t>SYSTEM ARCHITECTURE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6F1E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moves through one backend calculation path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EBFB6"/>
                </a:solidFill>
              </a:rPr>
              <a:t>The frontend captures inputs and renders results; the backend owns the official numbers.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31520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38BDF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41248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8BDF8"/>
                </a:solidFill>
              </a:rPr>
              <a:t>Browser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841248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React renders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2304288" y="3273552"/>
            <a:ext cx="603504" cy="0"/>
          </a:xfrm>
          <a:prstGeom prst="line">
            <a:avLst/>
          </a:prstGeom>
          <a:noFill/>
          <a:ln w="1397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2907792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8BD8B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017520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BD8B0"/>
                </a:solidFill>
              </a:rPr>
              <a:t>API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3017520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FastAPI /api/v1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480560" y="3273552"/>
            <a:ext cx="603504" cy="0"/>
          </a:xfrm>
          <a:prstGeom prst="line">
            <a:avLst/>
          </a:prstGeom>
          <a:noFill/>
          <a:ln w="1397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5074920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E6A83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84648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6A83B"/>
                </a:solidFill>
              </a:rPr>
              <a:t>Services</a:t>
            </a:r>
            <a:endParaRPr lang="en-US" sz="1250" dirty="0"/>
          </a:p>
        </p:txBody>
      </p:sp>
      <p:sp>
        <p:nvSpPr>
          <p:cNvPr id="54" name="Text 52"/>
          <p:cNvSpPr/>
          <p:nvPr/>
        </p:nvSpPr>
        <p:spPr>
          <a:xfrm>
            <a:off x="5184648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ownership + normalize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647688" y="3273552"/>
            <a:ext cx="603504" cy="0"/>
          </a:xfrm>
          <a:prstGeom prst="line">
            <a:avLst/>
          </a:prstGeom>
          <a:noFill/>
          <a:ln w="1397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7242048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0F7A5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51776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7A50"/>
                </a:solidFill>
              </a:rPr>
              <a:t>pace-v1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7351776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pure calculation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8814816" y="3273552"/>
            <a:ext cx="603504" cy="0"/>
          </a:xfrm>
          <a:prstGeom prst="line">
            <a:avLst/>
          </a:prstGeom>
          <a:noFill/>
          <a:ln w="1397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9418320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38BDF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528048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8BDF8"/>
                </a:solidFill>
              </a:rPr>
              <a:t>Snapshots</a:t>
            </a:r>
            <a:endParaRPr lang="en-US" sz="1250" dirty="0"/>
          </a:p>
        </p:txBody>
      </p:sp>
      <p:sp>
        <p:nvSpPr>
          <p:cNvPr id="62" name="Text 60"/>
          <p:cNvSpPr/>
          <p:nvPr/>
        </p:nvSpPr>
        <p:spPr>
          <a:xfrm>
            <a:off x="9528048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immutable audit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786384" y="4800600"/>
            <a:ext cx="10378440" cy="566928"/>
          </a:xfrm>
          <a:prstGeom prst="rect">
            <a:avLst/>
          </a:prstGeom>
          <a:solidFill>
            <a:srgbClr val="17201C"/>
          </a:solidFill>
          <a:ln w="12700">
            <a:solidFill>
              <a:srgbClr val="31443B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24128" y="4983480"/>
            <a:ext cx="9893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6F1E7"/>
                </a:solidFill>
              </a:rPr>
              <a:t>Frontend formats and visualizes; the backend owns official financial outputs.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DECISION 1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Use a deterministic pace engine for financial output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The same inputs, date, timezone, and formula version produce the same result.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49808" y="2523744"/>
            <a:ext cx="4892040" cy="1280160"/>
          </a:xfrm>
          <a:prstGeom prst="rect">
            <a:avLst/>
          </a:prstGeom>
          <a:solidFill>
            <a:srgbClr val="F3FBF7"/>
          </a:solidFill>
          <a:ln w="17780">
            <a:solidFill>
              <a:srgbClr val="0F7A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32688" y="268833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7A50"/>
                </a:solidFill>
              </a:rPr>
              <a:t>CLAIM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950976" y="299923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8221F"/>
                </a:solidFill>
              </a:rPr>
              <a:t>safe-to-spend, shortfall, and pace status come from a deterministic engine.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6190488" y="2523744"/>
            <a:ext cx="4892040" cy="1280160"/>
          </a:xfrm>
          <a:prstGeom prst="rect">
            <a:avLst/>
          </a:prstGeom>
          <a:solidFill>
            <a:srgbClr val="FFFFFF"/>
          </a:solidFill>
          <a:ln w="10160">
            <a:solidFill>
              <a:srgbClr val="2563A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73368" y="268833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A8"/>
                </a:solidFill>
              </a:rPr>
              <a:t>EVIDENCE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391656" y="299923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8221F"/>
                </a:solidFill>
              </a:rPr>
              <a:t>pace-engine contract and golden tests check stable result behavior.</a:t>
            </a:r>
            <a:endParaRPr lang="en-US" sz="1350" dirty="0"/>
          </a:p>
        </p:txBody>
      </p:sp>
      <p:sp>
        <p:nvSpPr>
          <p:cNvPr id="50" name="Shape 48"/>
          <p:cNvSpPr/>
          <p:nvPr/>
        </p:nvSpPr>
        <p:spPr>
          <a:xfrm>
            <a:off x="749808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E6A83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32688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A83B"/>
                </a:solidFill>
              </a:rPr>
              <a:t>REJECTED ALTERNATIVE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950976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AI-generated calculations would be difficult to verify.</a:t>
            </a:r>
            <a:endParaRPr lang="en-US" sz="1120" dirty="0"/>
          </a:p>
        </p:txBody>
      </p:sp>
      <p:sp>
        <p:nvSpPr>
          <p:cNvPr id="53" name="Shape 51"/>
          <p:cNvSpPr/>
          <p:nvPr/>
        </p:nvSpPr>
        <p:spPr>
          <a:xfrm>
            <a:off x="4389120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85F4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0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5F4B"/>
                </a:solidFill>
              </a:rPr>
              <a:t>RISK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590288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deterministic formulas may be less flexible than open-ended advice.</a:t>
            </a:r>
            <a:endParaRPr lang="en-US" sz="1120" dirty="0"/>
          </a:p>
        </p:txBody>
      </p:sp>
      <p:sp>
        <p:nvSpPr>
          <p:cNvPr id="56" name="Shape 54"/>
          <p:cNvSpPr/>
          <p:nvPr/>
        </p:nvSpPr>
        <p:spPr>
          <a:xfrm>
            <a:off x="8028432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0F7A5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211312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7A50"/>
                </a:solidFill>
              </a:rPr>
              <a:t>MITIGATION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8229600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keep explanations separate from the calculation authority.</a:t>
            </a:r>
            <a:endParaRPr lang="en-US" sz="11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DECISION 2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Store each committed calculation as a snapshot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A snapshot records normalized inputs and versioned results for later review.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49808" y="2523744"/>
            <a:ext cx="4892040" cy="1280160"/>
          </a:xfrm>
          <a:prstGeom prst="rect">
            <a:avLst/>
          </a:prstGeom>
          <a:solidFill>
            <a:srgbClr val="F3FBF7"/>
          </a:solidFill>
          <a:ln w="17780">
            <a:solidFill>
              <a:srgbClr val="0F7A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32688" y="268833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7A50"/>
                </a:solidFill>
              </a:rPr>
              <a:t>CLAIM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950976" y="299923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8221F"/>
                </a:solidFill>
              </a:rPr>
              <a:t>calculations are stored as immutable snapshots after input changes.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6190488" y="2523744"/>
            <a:ext cx="4892040" cy="1280160"/>
          </a:xfrm>
          <a:prstGeom prst="rect">
            <a:avLst/>
          </a:prstGeom>
          <a:solidFill>
            <a:srgbClr val="FFFFFF"/>
          </a:solidFill>
          <a:ln w="10160">
            <a:solidFill>
              <a:srgbClr val="2563A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73368" y="268833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A8"/>
                </a:solidFill>
              </a:rPr>
              <a:t>EVIDENCE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391656" y="299923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8221F"/>
                </a:solidFill>
              </a:rPr>
              <a:t>snapshot schema and repository tests protect stored records.</a:t>
            </a:r>
            <a:endParaRPr lang="en-US" sz="1350" dirty="0"/>
          </a:p>
        </p:txBody>
      </p:sp>
      <p:sp>
        <p:nvSpPr>
          <p:cNvPr id="50" name="Shape 48"/>
          <p:cNvSpPr/>
          <p:nvPr/>
        </p:nvSpPr>
        <p:spPr>
          <a:xfrm>
            <a:off x="749808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E6A83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32688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A83B"/>
                </a:solidFill>
              </a:rPr>
              <a:t>REJECTED ALTERNATIVE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950976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recomputing history would lose what the user saw earlier.</a:t>
            </a:r>
            <a:endParaRPr lang="en-US" sz="1120" dirty="0"/>
          </a:p>
        </p:txBody>
      </p:sp>
      <p:sp>
        <p:nvSpPr>
          <p:cNvPr id="53" name="Shape 51"/>
          <p:cNvSpPr/>
          <p:nvPr/>
        </p:nvSpPr>
        <p:spPr>
          <a:xfrm>
            <a:off x="4389120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85F4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0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5F4B"/>
                </a:solidFill>
              </a:rPr>
              <a:t>RISK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590288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snapshots add storage and schema discipline.</a:t>
            </a:r>
            <a:endParaRPr lang="en-US" sz="1120" dirty="0"/>
          </a:p>
        </p:txBody>
      </p:sp>
      <p:sp>
        <p:nvSpPr>
          <p:cNvPr id="56" name="Shape 54"/>
          <p:cNvSpPr/>
          <p:nvPr/>
        </p:nvSpPr>
        <p:spPr>
          <a:xfrm>
            <a:off x="8028432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0F7A5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211312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7A50"/>
                </a:solidFill>
              </a:rPr>
              <a:t>MITIGATION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8229600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store normalized aggregate inputs, not raw transaction descriptions.</a:t>
            </a:r>
            <a:endParaRPr lang="en-US" sz="11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SECURITY BOUNDARY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Apply ownership and session boundaries consistently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The hosted demo uses the same auth and data-isolation rules as the local system.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822960" y="2487168"/>
            <a:ext cx="4892040" cy="960120"/>
          </a:xfrm>
          <a:prstGeom prst="rect">
            <a:avLst/>
          </a:prstGeom>
          <a:solidFill>
            <a:srgbClr val="FFFFFF"/>
          </a:solidFill>
          <a:ln w="15240">
            <a:solidFill>
              <a:srgbClr val="0F7A5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22960" y="2487168"/>
            <a:ext cx="128016" cy="960120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133856" y="2670048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A50"/>
                </a:solidFill>
              </a:rPr>
              <a:t>Session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2450592" y="267004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8221F"/>
                </a:solidFill>
              </a:rPr>
              <a:t>HTTP-only cookie; only a hashed opaque token is stored server-side</a:t>
            </a:r>
            <a:endParaRPr lang="en-US" sz="1220" dirty="0"/>
          </a:p>
        </p:txBody>
      </p:sp>
      <p:sp>
        <p:nvSpPr>
          <p:cNvPr id="48" name="Shape 46"/>
          <p:cNvSpPr/>
          <p:nvPr/>
        </p:nvSpPr>
        <p:spPr>
          <a:xfrm>
            <a:off x="6263640" y="2487168"/>
            <a:ext cx="4892040" cy="96012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A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63640" y="2487168"/>
            <a:ext cx="128016" cy="960120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574536" y="2670048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A8"/>
                </a:solidFill>
              </a:rPr>
              <a:t>CSRF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7891272" y="267004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8221F"/>
                </a:solidFill>
              </a:rPr>
              <a:t>Unsafe authenticated methods require a CSRF token</a:t>
            </a:r>
            <a:endParaRPr lang="en-US" sz="1220" dirty="0"/>
          </a:p>
        </p:txBody>
      </p:sp>
      <p:sp>
        <p:nvSpPr>
          <p:cNvPr id="52" name="Shape 50"/>
          <p:cNvSpPr/>
          <p:nvPr/>
        </p:nvSpPr>
        <p:spPr>
          <a:xfrm>
            <a:off x="822960" y="3904488"/>
            <a:ext cx="4892040" cy="960120"/>
          </a:xfrm>
          <a:prstGeom prst="rect">
            <a:avLst/>
          </a:prstGeom>
          <a:solidFill>
            <a:srgbClr val="FFFFFF"/>
          </a:solidFill>
          <a:ln w="15240">
            <a:solidFill>
              <a:srgbClr val="D85F4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22960" y="3904488"/>
            <a:ext cx="128016" cy="960120"/>
          </a:xfrm>
          <a:prstGeom prst="rect">
            <a:avLst/>
          </a:prstGeom>
          <a:solidFill>
            <a:srgbClr val="D85F4B"/>
          </a:solidFill>
          <a:ln w="12700">
            <a:solidFill>
              <a:srgbClr val="D85F4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133856" y="4087368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5F4B"/>
                </a:solidFill>
              </a:rPr>
              <a:t>Ownership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2450592" y="408736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8221F"/>
                </a:solidFill>
              </a:rPr>
              <a:t>Private cross-user resource access returns 404</a:t>
            </a:r>
            <a:endParaRPr lang="en-US" sz="1220" dirty="0"/>
          </a:p>
        </p:txBody>
      </p:sp>
      <p:sp>
        <p:nvSpPr>
          <p:cNvPr id="56" name="Shape 54"/>
          <p:cNvSpPr/>
          <p:nvPr/>
        </p:nvSpPr>
        <p:spPr>
          <a:xfrm>
            <a:off x="6263640" y="3904488"/>
            <a:ext cx="4892040" cy="960120"/>
          </a:xfrm>
          <a:prstGeom prst="rect">
            <a:avLst/>
          </a:prstGeom>
          <a:solidFill>
            <a:srgbClr val="FFFFFF"/>
          </a:solidFill>
          <a:ln w="15240">
            <a:solidFill>
              <a:srgbClr val="E6A83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263640" y="3904488"/>
            <a:ext cx="128016" cy="960120"/>
          </a:xfrm>
          <a:prstGeom prst="rect">
            <a:avLst/>
          </a:prstGeom>
          <a:solidFill>
            <a:srgbClr val="E6A83B"/>
          </a:solidFill>
          <a:ln w="12700">
            <a:solidFill>
              <a:srgbClr val="E6A83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74536" y="4087368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A83B"/>
                </a:solidFill>
              </a:rPr>
              <a:t>Hosting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7891272" y="408736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8221F"/>
                </a:solidFill>
              </a:rPr>
              <a:t>Railway uses secure cookies, allowlisted origins, and PostgreSQL</a:t>
            </a:r>
            <a:endParaRPr lang="en-US" sz="1220" dirty="0"/>
          </a:p>
        </p:txBody>
      </p:sp>
      <p:sp>
        <p:nvSpPr>
          <p:cNvPr id="60" name="Shape 58"/>
          <p:cNvSpPr/>
          <p:nvPr/>
        </p:nvSpPr>
        <p:spPr>
          <a:xfrm>
            <a:off x="960120" y="5440680"/>
            <a:ext cx="10149840" cy="475488"/>
          </a:xfrm>
          <a:prstGeom prst="rect">
            <a:avLst/>
          </a:prstGeom>
          <a:solidFill>
            <a:srgbClr val="18221F"/>
          </a:solidFill>
          <a:ln w="12700">
            <a:solidFill>
              <a:srgbClr val="18221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143000" y="5596128"/>
            <a:ext cx="9784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6F1E7"/>
                </a:solidFill>
              </a:rPr>
              <a:t>Demo failure case: unauthorized or cross-user access fails without exposing another user's financial data.</a:t>
            </a:r>
            <a:endParaRPr lang="en-US" sz="12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32413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8BD8B0"/>
          </a:solidFill>
          <a:ln w="12700">
            <a:solidFill>
              <a:srgbClr val="8BD8B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D8B0"/>
                </a:solidFill>
              </a:rPr>
              <a:t>AI AND REVIEW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6F1E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explains committed results, but does not produce them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EBFB6"/>
                </a:solidFill>
              </a:rPr>
              <a:t>The planning workflow still works when the AI provider is unavailable.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658368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0F7A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13816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F7A50"/>
                </a:solidFill>
              </a:rPr>
              <a:t>COMMITTED</a:t>
            </a:r>
            <a:endParaRPr lang="en-US" sz="880" dirty="0"/>
          </a:p>
        </p:txBody>
      </p:sp>
      <p:sp>
        <p:nvSpPr>
          <p:cNvPr id="46" name="Text 44"/>
          <p:cNvSpPr/>
          <p:nvPr/>
        </p:nvSpPr>
        <p:spPr>
          <a:xfrm>
            <a:off x="813816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snapshot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258568" y="3328416"/>
            <a:ext cx="676656" cy="0"/>
          </a:xfrm>
          <a:prstGeom prst="line">
            <a:avLst/>
          </a:prstGeom>
          <a:noFill/>
          <a:ln w="1270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2926080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38BDF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081528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8BDF8"/>
                </a:solidFill>
              </a:rPr>
              <a:t>MINIMIZED</a:t>
            </a:r>
            <a:endParaRPr lang="en-US" sz="880" dirty="0"/>
          </a:p>
        </p:txBody>
      </p:sp>
      <p:sp>
        <p:nvSpPr>
          <p:cNvPr id="50" name="Text 48"/>
          <p:cNvSpPr/>
          <p:nvPr/>
        </p:nvSpPr>
        <p:spPr>
          <a:xfrm>
            <a:off x="3081528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aggregate payload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526280" y="3328416"/>
            <a:ext cx="676656" cy="0"/>
          </a:xfrm>
          <a:prstGeom prst="line">
            <a:avLst/>
          </a:prstGeom>
          <a:noFill/>
          <a:ln w="1270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5193792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E6A83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349240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E6A83B"/>
                </a:solidFill>
              </a:rPr>
              <a:t>GENERATED</a:t>
            </a:r>
            <a:endParaRPr lang="en-US" sz="880" dirty="0"/>
          </a:p>
        </p:txBody>
      </p:sp>
      <p:sp>
        <p:nvSpPr>
          <p:cNvPr id="54" name="Text 52"/>
          <p:cNvSpPr/>
          <p:nvPr/>
        </p:nvSpPr>
        <p:spPr>
          <a:xfrm>
            <a:off x="5349240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explanation prose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793992" y="3328416"/>
            <a:ext cx="676656" cy="0"/>
          </a:xfrm>
          <a:prstGeom prst="line">
            <a:avLst/>
          </a:prstGeom>
          <a:noFill/>
          <a:ln w="1270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7461504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8BD8B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16952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8BD8B0"/>
                </a:solidFill>
              </a:rPr>
              <a:t>VALIDATED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7616952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schema + snapshot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9061704" y="3328416"/>
            <a:ext cx="676656" cy="0"/>
          </a:xfrm>
          <a:prstGeom prst="line">
            <a:avLst/>
          </a:prstGeom>
          <a:noFill/>
          <a:ln w="1270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9729216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2563A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884664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2563A8"/>
                </a:solidFill>
              </a:rPr>
              <a:t>RENDERED</a:t>
            </a:r>
            <a:endParaRPr lang="en-US" sz="880" dirty="0"/>
          </a:p>
        </p:txBody>
      </p:sp>
      <p:sp>
        <p:nvSpPr>
          <p:cNvPr id="62" name="Text 60"/>
          <p:cNvSpPr/>
          <p:nvPr/>
        </p:nvSpPr>
        <p:spPr>
          <a:xfrm>
            <a:off x="9884664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backend numbers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1051560" y="486460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6F1E7"/>
                </a:solidFill>
              </a:rPr>
              <a:t>Runtime AI is allowed to explain a committed calculation. It is not allowed to become the calculator.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VERIFICATION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Verification follows the system boundaries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The checks focus on calculation correctness, data isolation, persistence, and frontend contracts.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914400" y="257860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21F"/>
                </a:solidFill>
              </a:rPr>
              <a:t>pace golden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606040" y="2606040"/>
            <a:ext cx="6858000" cy="164592"/>
          </a:xfrm>
          <a:prstGeom prst="rect">
            <a:avLst/>
          </a:prstGeom>
          <a:solidFill>
            <a:srgbClr val="E8EEE9"/>
          </a:solidFill>
          <a:ln w="12700">
            <a:solidFill>
              <a:srgbClr val="E8EEE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606040" y="2606040"/>
            <a:ext cx="6309360" cy="164592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14400" y="323697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21F"/>
                </a:solidFill>
              </a:rPr>
              <a:t>API + auth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2606040" y="3264408"/>
            <a:ext cx="6858000" cy="164592"/>
          </a:xfrm>
          <a:prstGeom prst="rect">
            <a:avLst/>
          </a:prstGeom>
          <a:solidFill>
            <a:srgbClr val="E8EEE9"/>
          </a:solidFill>
          <a:ln w="12700">
            <a:solidFill>
              <a:srgbClr val="E8EEE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606040" y="3264408"/>
            <a:ext cx="5760720" cy="164592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" y="389534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21F"/>
                </a:solidFill>
              </a:rPr>
              <a:t>migration smoke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606040" y="3922776"/>
            <a:ext cx="6858000" cy="164592"/>
          </a:xfrm>
          <a:prstGeom prst="rect">
            <a:avLst/>
          </a:prstGeom>
          <a:solidFill>
            <a:srgbClr val="E8EEE9"/>
          </a:solidFill>
          <a:ln w="12700">
            <a:solidFill>
              <a:srgbClr val="E8EEE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606040" y="3922776"/>
            <a:ext cx="4937760" cy="164592"/>
          </a:xfrm>
          <a:prstGeom prst="rect">
            <a:avLst/>
          </a:prstGeom>
          <a:solidFill>
            <a:srgbClr val="E6A83B"/>
          </a:solidFill>
          <a:ln w="12700">
            <a:solidFill>
              <a:srgbClr val="E6A83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14400" y="455371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21F"/>
                </a:solidFill>
              </a:rPr>
              <a:t>frontend checks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606040" y="4581144"/>
            <a:ext cx="6858000" cy="164592"/>
          </a:xfrm>
          <a:prstGeom prst="rect">
            <a:avLst/>
          </a:prstGeom>
          <a:solidFill>
            <a:srgbClr val="E8EEE9"/>
          </a:solidFill>
          <a:ln w="12700">
            <a:solidFill>
              <a:srgbClr val="E8EEE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606040" y="4581144"/>
            <a:ext cx="5349240" cy="164592"/>
          </a:xfrm>
          <a:prstGeom prst="rect">
            <a:avLst/>
          </a:prstGeom>
          <a:solidFill>
            <a:srgbClr val="D85F4B"/>
          </a:solidFill>
          <a:ln w="12700">
            <a:solidFill>
              <a:srgbClr val="D85F4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875520" y="2578608"/>
            <a:ext cx="1371600" cy="2788920"/>
          </a:xfrm>
          <a:prstGeom prst="rect">
            <a:avLst/>
          </a:prstGeom>
          <a:solidFill>
            <a:srgbClr val="18221F"/>
          </a:solidFill>
          <a:ln w="12700">
            <a:solidFill>
              <a:srgbClr val="18221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058400" y="288036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A83B"/>
                </a:solidFill>
              </a:rPr>
              <a:t>Known gap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10040112" y="3401568"/>
            <a:ext cx="1051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6F1E7"/>
                </a:solidFill>
              </a:rPr>
              <a:t>Tests prove contracts, not production load.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32413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8BD8B0"/>
          </a:solidFill>
          <a:ln w="12700">
            <a:solidFill>
              <a:srgbClr val="8BD8B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D8B0"/>
                </a:solidFill>
              </a:rPr>
              <a:t>LIVE DEMO CONTRACT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6F1E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live demo follows the same path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EBFB6"/>
                </a:solidFill>
              </a:rPr>
              <a:t>Show the normal planning flow, one safe failure, and the engineering evidence.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960120" y="2651760"/>
            <a:ext cx="749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7A50"/>
                </a:solidFill>
              </a:rPr>
              <a:t>01</a:t>
            </a:r>
            <a:endParaRPr lang="en-US" sz="2000" dirty="0"/>
          </a:p>
        </p:txBody>
      </p:sp>
      <p:sp>
        <p:nvSpPr>
          <p:cNvPr id="45" name="Shape 43"/>
          <p:cNvSpPr/>
          <p:nvPr/>
        </p:nvSpPr>
        <p:spPr>
          <a:xfrm>
            <a:off x="960120" y="3127248"/>
            <a:ext cx="2651760" cy="0"/>
          </a:xfrm>
          <a:prstGeom prst="line">
            <a:avLst/>
          </a:prstGeom>
          <a:noFill/>
          <a:ln w="20320">
            <a:solidFill>
              <a:srgbClr val="0F7A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60120" y="33649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1E7"/>
                </a:solidFill>
              </a:rPr>
              <a:t>Value path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960120" y="3785616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BFD1C8"/>
                </a:solidFill>
              </a:rPr>
              <a:t>Load plan and read weekly safe-to-spend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4663440" y="2651760"/>
            <a:ext cx="749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A83B"/>
                </a:solidFill>
              </a:rPr>
              <a:t>02</a:t>
            </a:r>
            <a:endParaRPr lang="en-US" sz="2000" dirty="0"/>
          </a:p>
        </p:txBody>
      </p:sp>
      <p:sp>
        <p:nvSpPr>
          <p:cNvPr id="49" name="Shape 47"/>
          <p:cNvSpPr/>
          <p:nvPr/>
        </p:nvSpPr>
        <p:spPr>
          <a:xfrm>
            <a:off x="4663440" y="3127248"/>
            <a:ext cx="2651760" cy="0"/>
          </a:xfrm>
          <a:prstGeom prst="line">
            <a:avLst/>
          </a:prstGeom>
          <a:noFill/>
          <a:ln w="20320">
            <a:solidFill>
              <a:srgbClr val="E6A83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63440" y="33649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1E7"/>
                </a:solidFill>
              </a:rPr>
              <a:t>Failure path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4663440" y="3785616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BFD1C8"/>
                </a:solidFill>
              </a:rPr>
              <a:t>Invalid or unauthorized access fails safely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8366760" y="2651760"/>
            <a:ext cx="749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8BDF8"/>
                </a:solidFill>
              </a:rPr>
              <a:t>03</a:t>
            </a:r>
            <a:endParaRPr lang="en-US" sz="2000" dirty="0"/>
          </a:p>
        </p:txBody>
      </p:sp>
      <p:sp>
        <p:nvSpPr>
          <p:cNvPr id="53" name="Shape 51"/>
          <p:cNvSpPr/>
          <p:nvPr/>
        </p:nvSpPr>
        <p:spPr>
          <a:xfrm>
            <a:off x="8366760" y="3127248"/>
            <a:ext cx="2651760" cy="0"/>
          </a:xfrm>
          <a:prstGeom prst="line">
            <a:avLst/>
          </a:prstGeom>
          <a:noFill/>
          <a:ln w="20320">
            <a:solidFill>
              <a:srgbClr val="38BDF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366760" y="33649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1E7"/>
                </a:solidFill>
              </a:rPr>
              <a:t>Evidence path</a:t>
            </a:r>
            <a:endParaRPr lang="en-US" sz="1500" dirty="0"/>
          </a:p>
        </p:txBody>
      </p:sp>
      <p:sp>
        <p:nvSpPr>
          <p:cNvPr id="55" name="Text 53"/>
          <p:cNvSpPr/>
          <p:nvPr/>
        </p:nvSpPr>
        <p:spPr>
          <a:xfrm>
            <a:off x="8366760" y="3785616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BFD1C8"/>
                </a:solidFill>
              </a:rPr>
              <a:t>Show snapshot and test/deploy proof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987552" y="5321808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BD8B0"/>
                </a:solidFill>
              </a:rPr>
              <a:t>Deck stops here. Product proof starts in the browser.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GoalWise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GoalWise Final Demo - High-End</dc:title>
  <dc:subject>Graduate CS final demo</dc:subject>
  <dc:creator>GoalWise Team</dc:creator>
  <cp:lastModifiedBy>GoalWise Team</cp:lastModifiedBy>
  <cp:revision>1</cp:revision>
  <dcterms:created xsi:type="dcterms:W3CDTF">2026-09-11T03:13:34Z</dcterms:created>
  <dcterms:modified xsi:type="dcterms:W3CDTF">2026-09-11T03:13:34Z</dcterms:modified>
</cp:coreProperties>
</file>