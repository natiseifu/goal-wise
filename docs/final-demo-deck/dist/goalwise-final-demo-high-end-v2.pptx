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0:45. Start with the product question. Explain that the scope is intentionally small: one goal, manual inputs, and a backend calculation the team can explain.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Define the product boundary before discussing architecture. The important point is that the implementation is scoped to the planning loop, not general personal finance.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Walk through the request path: browser to API, service validation, pace engine, snapshot, dashboard response. State clearly that React does not duplicate the formula.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Present this as the main technical decision. The calculation has to be testable and repeatable because it affects financial guidance.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why this matters for review. The app can show what was calculated at a point in time instead of silently changing history.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Explain that security is part of the product contract. Financial data only makes sense if ownership checks are enforced at the backend.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0:55. Separate runtime AI from development assistance. The runtime feature is explanation only; the financial result comes from pace-v1.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1:00. Tie the test groups back to the architecture. Mention the honest limit: these checks do not prove production load behavior or every future financial scenario.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0:25. Keep this as the handoff. The next screen should be the app, not another explanation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01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621792" y="713232"/>
            <a:ext cx="146304" cy="525780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1051560" y="932688"/>
            <a:ext cx="3840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BD8B0"/>
                </a:solidFill>
              </a:rPr>
              <a:t>GRADUATE CS FINAL DEMO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987552" y="1335024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GoalWise</a:t>
            </a:r>
            <a:endParaRPr lang="en-US" sz="4900" dirty="0"/>
          </a:p>
        </p:txBody>
      </p:sp>
      <p:sp>
        <p:nvSpPr>
          <p:cNvPr id="45" name="Text 43"/>
          <p:cNvSpPr/>
          <p:nvPr/>
        </p:nvSpPr>
        <p:spPr>
          <a:xfrm>
            <a:off x="1033272" y="2148840"/>
            <a:ext cx="48920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B8CEC4"/>
                </a:solidFill>
              </a:rPr>
              <a:t>weekly planning from explicit assumptions</a:t>
            </a:r>
            <a:endParaRPr lang="en-US" sz="1700" dirty="0"/>
          </a:p>
        </p:txBody>
      </p:sp>
      <p:pic>
        <p:nvPicPr>
          <p:cNvPr id="46" name="Image 0" descr="/private/tmp/goal-wise-final-deck/docs/final-demo-deck/assets/goalwise-main-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144768" y="658368"/>
            <a:ext cx="4709160" cy="4709160"/>
          </a:xfrm>
          <a:prstGeom prst="rect">
            <a:avLst/>
          </a:prstGeom>
        </p:spPr>
      </p:pic>
      <p:sp>
        <p:nvSpPr>
          <p:cNvPr id="47" name="Shape 44"/>
          <p:cNvSpPr/>
          <p:nvPr/>
        </p:nvSpPr>
        <p:spPr>
          <a:xfrm>
            <a:off x="6263640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6373368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ONE GOAL</a:t>
            </a:r>
            <a:endParaRPr lang="en-US" sz="1250" dirty="0"/>
          </a:p>
        </p:txBody>
      </p:sp>
      <p:sp>
        <p:nvSpPr>
          <p:cNvPr id="49" name="Text 46"/>
          <p:cNvSpPr/>
          <p:nvPr/>
        </p:nvSpPr>
        <p:spPr>
          <a:xfrm>
            <a:off x="6373368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MVP scope</a:t>
            </a:r>
            <a:endParaRPr lang="en-US" sz="900" dirty="0"/>
          </a:p>
        </p:txBody>
      </p:sp>
      <p:sp>
        <p:nvSpPr>
          <p:cNvPr id="50" name="Shape 47"/>
          <p:cNvSpPr/>
          <p:nvPr/>
        </p:nvSpPr>
        <p:spPr>
          <a:xfrm>
            <a:off x="8119872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1" name="Text 48"/>
          <p:cNvSpPr/>
          <p:nvPr/>
        </p:nvSpPr>
        <p:spPr>
          <a:xfrm>
            <a:off x="8229600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563A8"/>
                </a:solidFill>
              </a:rPr>
              <a:t>PACE-v1</a:t>
            </a:r>
            <a:endParaRPr lang="en-US" sz="1250" dirty="0"/>
          </a:p>
        </p:txBody>
      </p:sp>
      <p:sp>
        <p:nvSpPr>
          <p:cNvPr id="52" name="Text 49"/>
          <p:cNvSpPr/>
          <p:nvPr/>
        </p:nvSpPr>
        <p:spPr>
          <a:xfrm>
            <a:off x="8229600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deterministic core</a:t>
            </a:r>
            <a:endParaRPr lang="en-US" sz="900" dirty="0"/>
          </a:p>
        </p:txBody>
      </p:sp>
      <p:sp>
        <p:nvSpPr>
          <p:cNvPr id="53" name="Shape 50"/>
          <p:cNvSpPr/>
          <p:nvPr/>
        </p:nvSpPr>
        <p:spPr>
          <a:xfrm>
            <a:off x="9976104" y="4983480"/>
            <a:ext cx="1627632" cy="749808"/>
          </a:xfrm>
          <a:prstGeom prst="rect">
            <a:avLst/>
          </a:prstGeom>
          <a:solidFill>
            <a:srgbClr val="17201C"/>
          </a:solidFill>
          <a:ln w="10160">
            <a:solidFill>
              <a:srgbClr val="304139"/>
            </a:solidFill>
            <a:prstDash val="solid"/>
          </a:ln>
        </p:spPr>
      </p:sp>
      <p:sp>
        <p:nvSpPr>
          <p:cNvPr id="54" name="Text 51"/>
          <p:cNvSpPr/>
          <p:nvPr/>
        </p:nvSpPr>
        <p:spPr>
          <a:xfrm>
            <a:off x="10085832" y="5111496"/>
            <a:ext cx="1408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AI EDGE</a:t>
            </a:r>
            <a:endParaRPr lang="en-US" sz="1250" dirty="0"/>
          </a:p>
        </p:txBody>
      </p:sp>
      <p:sp>
        <p:nvSpPr>
          <p:cNvPr id="55" name="Text 52"/>
          <p:cNvSpPr/>
          <p:nvPr/>
        </p:nvSpPr>
        <p:spPr>
          <a:xfrm>
            <a:off x="10085832" y="5394960"/>
            <a:ext cx="1408176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DB3A8"/>
                </a:solidFill>
              </a:rPr>
              <a:t>explain only</a:t>
            </a:r>
            <a:endParaRPr lang="en-US" sz="900" dirty="0"/>
          </a:p>
        </p:txBody>
      </p:sp>
      <p:sp>
        <p:nvSpPr>
          <p:cNvPr id="56" name="Text 53"/>
          <p:cNvSpPr/>
          <p:nvPr/>
        </p:nvSpPr>
        <p:spPr>
          <a:xfrm>
            <a:off x="1051560" y="5029200"/>
            <a:ext cx="4434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D7E4DD"/>
                </a:solidFill>
              </a:rPr>
              <a:t>The product answers one question: can the user stay on pace for a target date?  /  The system turns manual assumptions into a weekly safe-to-spend number.</a:t>
            </a:r>
            <a:endParaRPr lang="en-US" sz="13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PRODUCT SCOPE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MVP keeps the planning problem bounded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current system supports one active goal and explicit user-entered assumptions.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78608"/>
            <a:ext cx="3246120" cy="2670048"/>
          </a:xfrm>
          <a:prstGeom prst="rect">
            <a:avLst/>
          </a:prstGeom>
          <a:solidFill>
            <a:srgbClr val="F5FBF7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50976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F7A50"/>
                </a:solidFill>
              </a:rPr>
              <a:t>CURRENT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950976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What the demo can defend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969264" y="3858768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1225296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one active savings goal</a:t>
            </a:r>
            <a:endParaRPr lang="en-US" sz="1200" dirty="0"/>
          </a:p>
        </p:txBody>
      </p:sp>
      <p:sp>
        <p:nvSpPr>
          <p:cNvPr id="49" name="Shape 47"/>
          <p:cNvSpPr/>
          <p:nvPr/>
        </p:nvSpPr>
        <p:spPr>
          <a:xfrm>
            <a:off x="969264" y="4242816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1225296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manual assumptions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969264" y="4626864"/>
            <a:ext cx="155448" cy="0"/>
          </a:xfrm>
          <a:prstGeom prst="line">
            <a:avLst/>
          </a:prstGeom>
          <a:noFill/>
          <a:ln w="15240">
            <a:solidFill>
              <a:srgbClr val="0F7A50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1225296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safe-to-spend + status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517136" y="2578608"/>
            <a:ext cx="3246120" cy="2670048"/>
          </a:xfrm>
          <a:prstGeom prst="rect">
            <a:avLst/>
          </a:prstGeom>
          <a:solidFill>
            <a:srgbClr val="F4F8FC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718304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563A8"/>
                </a:solidFill>
              </a:rPr>
              <a:t>EDGE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4718304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Accepted but controlled</a:t>
            </a:r>
            <a:endParaRPr lang="en-US" sz="1400" dirty="0"/>
          </a:p>
        </p:txBody>
      </p:sp>
      <p:sp>
        <p:nvSpPr>
          <p:cNvPr id="56" name="Shape 54"/>
          <p:cNvSpPr/>
          <p:nvPr/>
        </p:nvSpPr>
        <p:spPr>
          <a:xfrm>
            <a:off x="4736592" y="3858768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992624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CSV preview + confirmation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4736592" y="4242816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4992624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optional AI explanation</a:t>
            </a:r>
            <a:endParaRPr lang="en-US" sz="1200" dirty="0"/>
          </a:p>
        </p:txBody>
      </p:sp>
      <p:sp>
        <p:nvSpPr>
          <p:cNvPr id="60" name="Shape 58"/>
          <p:cNvSpPr/>
          <p:nvPr/>
        </p:nvSpPr>
        <p:spPr>
          <a:xfrm>
            <a:off x="4736592" y="4626864"/>
            <a:ext cx="155448" cy="0"/>
          </a:xfrm>
          <a:prstGeom prst="line">
            <a:avLst/>
          </a:prstGeom>
          <a:noFill/>
          <a:ln w="15240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992624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snapshot-scoped summaries</a:t>
            </a:r>
            <a:endParaRPr lang="en-US" sz="1200" dirty="0"/>
          </a:p>
        </p:txBody>
      </p:sp>
      <p:sp>
        <p:nvSpPr>
          <p:cNvPr id="62" name="Shape 60"/>
          <p:cNvSpPr/>
          <p:nvPr/>
        </p:nvSpPr>
        <p:spPr>
          <a:xfrm>
            <a:off x="8284464" y="2578608"/>
            <a:ext cx="3246120" cy="2670048"/>
          </a:xfrm>
          <a:prstGeom prst="rect">
            <a:avLst/>
          </a:prstGeom>
          <a:solidFill>
            <a:srgbClr val="FFF8F5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63" name="Text 61"/>
          <p:cNvSpPr/>
          <p:nvPr/>
        </p:nvSpPr>
        <p:spPr>
          <a:xfrm>
            <a:off x="8485632" y="2816352"/>
            <a:ext cx="1280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D85F4B"/>
                </a:solidFill>
              </a:rPr>
              <a:t>DEFERRED</a:t>
            </a:r>
            <a:endParaRPr lang="en-US" sz="950" dirty="0"/>
          </a:p>
        </p:txBody>
      </p:sp>
      <p:sp>
        <p:nvSpPr>
          <p:cNvPr id="64" name="Text 62"/>
          <p:cNvSpPr/>
          <p:nvPr/>
        </p:nvSpPr>
        <p:spPr>
          <a:xfrm>
            <a:off x="8485632" y="31363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8221F"/>
                </a:solidFill>
              </a:rPr>
              <a:t>Named honestly</a:t>
            </a:r>
            <a:endParaRPr lang="en-US" sz="1400" dirty="0"/>
          </a:p>
        </p:txBody>
      </p:sp>
      <p:sp>
        <p:nvSpPr>
          <p:cNvPr id="65" name="Shape 63"/>
          <p:cNvSpPr/>
          <p:nvPr/>
        </p:nvSpPr>
        <p:spPr>
          <a:xfrm>
            <a:off x="8503920" y="3858768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759952" y="3749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bank sync</a:t>
            </a:r>
            <a:endParaRPr lang="en-US" sz="1200" dirty="0"/>
          </a:p>
        </p:txBody>
      </p:sp>
      <p:sp>
        <p:nvSpPr>
          <p:cNvPr id="67" name="Shape 65"/>
          <p:cNvSpPr/>
          <p:nvPr/>
        </p:nvSpPr>
        <p:spPr>
          <a:xfrm>
            <a:off x="8503920" y="4242816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68" name="Text 66"/>
          <p:cNvSpPr/>
          <p:nvPr/>
        </p:nvSpPr>
        <p:spPr>
          <a:xfrm>
            <a:off x="8759952" y="4133088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raw transaction import</a:t>
            </a:r>
            <a:endParaRPr lang="en-US" sz="1200" dirty="0"/>
          </a:p>
        </p:txBody>
      </p:sp>
      <p:sp>
        <p:nvSpPr>
          <p:cNvPr id="69" name="Shape 67"/>
          <p:cNvSpPr/>
          <p:nvPr/>
        </p:nvSpPr>
        <p:spPr>
          <a:xfrm>
            <a:off x="8503920" y="4626864"/>
            <a:ext cx="155448" cy="0"/>
          </a:xfrm>
          <a:prstGeom prst="line">
            <a:avLst/>
          </a:prstGeom>
          <a:noFill/>
          <a:ln w="15240">
            <a:solidFill>
              <a:srgbClr val="D85F4B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8759952" y="4517136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18221F"/>
                </a:solidFill>
              </a:rPr>
              <a:t>multi-goal planning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SYSTEM ARCHITECTURE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Data moves through one backend calculation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frontend captures inputs and renders results; the backend owns the official numbers.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315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412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Browser</a:t>
            </a:r>
            <a:endParaRPr lang="en-US" sz="1250" dirty="0"/>
          </a:p>
        </p:txBody>
      </p:sp>
      <p:sp>
        <p:nvSpPr>
          <p:cNvPr id="46" name="Text 44"/>
          <p:cNvSpPr/>
          <p:nvPr/>
        </p:nvSpPr>
        <p:spPr>
          <a:xfrm>
            <a:off x="8412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React renders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3042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07792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8BD8B0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17520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8BD8B0"/>
                </a:solidFill>
              </a:rPr>
              <a:t>API</a:t>
            </a:r>
            <a:endParaRPr lang="en-US" sz="1250" dirty="0"/>
          </a:p>
        </p:txBody>
      </p:sp>
      <p:sp>
        <p:nvSpPr>
          <p:cNvPr id="50" name="Text 48"/>
          <p:cNvSpPr/>
          <p:nvPr/>
        </p:nvSpPr>
        <p:spPr>
          <a:xfrm>
            <a:off x="3017520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FastAPI /api/v1</a:t>
            </a:r>
            <a:endParaRPr lang="en-US" sz="950" dirty="0"/>
          </a:p>
        </p:txBody>
      </p:sp>
      <p:sp>
        <p:nvSpPr>
          <p:cNvPr id="51" name="Shape 49"/>
          <p:cNvSpPr/>
          <p:nvPr/>
        </p:nvSpPr>
        <p:spPr>
          <a:xfrm>
            <a:off x="4480560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0749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1846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E6A83B"/>
                </a:solidFill>
              </a:rPr>
              <a:t>Services</a:t>
            </a:r>
            <a:endParaRPr lang="en-US" sz="1250" dirty="0"/>
          </a:p>
        </p:txBody>
      </p:sp>
      <p:sp>
        <p:nvSpPr>
          <p:cNvPr id="54" name="Text 52"/>
          <p:cNvSpPr/>
          <p:nvPr/>
        </p:nvSpPr>
        <p:spPr>
          <a:xfrm>
            <a:off x="51846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ownership + normalize</a:t>
            </a:r>
            <a:endParaRPr lang="en-US" sz="950" dirty="0"/>
          </a:p>
        </p:txBody>
      </p:sp>
      <p:sp>
        <p:nvSpPr>
          <p:cNvPr id="55" name="Shape 53"/>
          <p:cNvSpPr/>
          <p:nvPr/>
        </p:nvSpPr>
        <p:spPr>
          <a:xfrm>
            <a:off x="6647688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242048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351776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0F7A50"/>
                </a:solidFill>
              </a:rPr>
              <a:t>pace-v1</a:t>
            </a:r>
            <a:endParaRPr lang="en-US" sz="1250" dirty="0"/>
          </a:p>
        </p:txBody>
      </p:sp>
      <p:sp>
        <p:nvSpPr>
          <p:cNvPr id="58" name="Text 56"/>
          <p:cNvSpPr/>
          <p:nvPr/>
        </p:nvSpPr>
        <p:spPr>
          <a:xfrm>
            <a:off x="7351776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pure calculation</a:t>
            </a:r>
            <a:endParaRPr lang="en-US" sz="950" dirty="0"/>
          </a:p>
        </p:txBody>
      </p:sp>
      <p:sp>
        <p:nvSpPr>
          <p:cNvPr id="59" name="Shape 57"/>
          <p:cNvSpPr/>
          <p:nvPr/>
        </p:nvSpPr>
        <p:spPr>
          <a:xfrm>
            <a:off x="8814816" y="3273552"/>
            <a:ext cx="603504" cy="0"/>
          </a:xfrm>
          <a:prstGeom prst="line">
            <a:avLst/>
          </a:prstGeom>
          <a:noFill/>
          <a:ln w="1397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418320" y="2788920"/>
            <a:ext cx="1572768" cy="969264"/>
          </a:xfrm>
          <a:prstGeom prst="rect">
            <a:avLst/>
          </a:prstGeom>
          <a:solidFill>
            <a:srgbClr val="17201C"/>
          </a:solidFill>
          <a:ln w="13970">
            <a:solidFill>
              <a:srgbClr val="38BDF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528048" y="2990088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</a:rPr>
              <a:t>Snapshots</a:t>
            </a:r>
            <a:endParaRPr lang="en-US" sz="1250" dirty="0"/>
          </a:p>
        </p:txBody>
      </p:sp>
      <p:sp>
        <p:nvSpPr>
          <p:cNvPr id="62" name="Text 60"/>
          <p:cNvSpPr/>
          <p:nvPr/>
        </p:nvSpPr>
        <p:spPr>
          <a:xfrm>
            <a:off x="9528048" y="3300984"/>
            <a:ext cx="1353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50" dirty="0">
                <a:solidFill>
                  <a:srgbClr val="AEBFB6"/>
                </a:solidFill>
              </a:rPr>
              <a:t>immutable audit</a:t>
            </a:r>
            <a:endParaRPr lang="en-US" sz="950" dirty="0"/>
          </a:p>
        </p:txBody>
      </p:sp>
      <p:sp>
        <p:nvSpPr>
          <p:cNvPr id="63" name="Shape 61"/>
          <p:cNvSpPr/>
          <p:nvPr/>
        </p:nvSpPr>
        <p:spPr>
          <a:xfrm>
            <a:off x="786384" y="4800600"/>
            <a:ext cx="10378440" cy="566928"/>
          </a:xfrm>
          <a:prstGeom prst="rect">
            <a:avLst/>
          </a:prstGeom>
          <a:solidFill>
            <a:srgbClr val="17201C"/>
          </a:solidFill>
          <a:ln w="12700">
            <a:solidFill>
              <a:srgbClr val="31443B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024128" y="4983480"/>
            <a:ext cx="9893808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b="1" dirty="0">
                <a:solidFill>
                  <a:srgbClr val="F6F1E7"/>
                </a:solidFill>
              </a:rPr>
              <a:t>Frontend formats and visualizes; the backend owns official financial outputs.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1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Use a deterministic pace engine for financial output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same inputs, date, timezone, and formula version produce the same result.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safe-to-spend, shortfall, and pace status come from a deterministic engine.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pace-engine contract and golden tests check stable result behavior.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AI-generated calculations would be difficult to verify.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deterministic formulas may be less flexible than open-ended advice.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keep explanations separate from the calculation authority.</a:t>
            </a:r>
            <a:endParaRPr lang="en-US" sz="11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DECISION 2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Store each committed calculation as a snapshot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A snapshot records normalized inputs and versioned results for later review.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749808" y="2523744"/>
            <a:ext cx="4892040" cy="1280160"/>
          </a:xfrm>
          <a:prstGeom prst="rect">
            <a:avLst/>
          </a:prstGeom>
          <a:solidFill>
            <a:srgbClr val="F3FBF7"/>
          </a:solidFill>
          <a:ln w="17780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3268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CLAIM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95097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b="1" dirty="0">
                <a:solidFill>
                  <a:srgbClr val="18221F"/>
                </a:solidFill>
              </a:rPr>
              <a:t>calculations are stored as immutable snapshots after input changes.</a:t>
            </a:r>
            <a:endParaRPr lang="en-US" sz="1350" dirty="0"/>
          </a:p>
        </p:txBody>
      </p:sp>
      <p:sp>
        <p:nvSpPr>
          <p:cNvPr id="47" name="Shape 45"/>
          <p:cNvSpPr/>
          <p:nvPr/>
        </p:nvSpPr>
        <p:spPr>
          <a:xfrm>
            <a:off x="6190488" y="2523744"/>
            <a:ext cx="4892040" cy="1280160"/>
          </a:xfrm>
          <a:prstGeom prst="rect">
            <a:avLst/>
          </a:prstGeom>
          <a:solidFill>
            <a:srgbClr val="FFFFFF"/>
          </a:solidFill>
          <a:ln w="10160">
            <a:solidFill>
              <a:srgbClr val="2563A8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73368" y="2688336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2563A8"/>
                </a:solidFill>
              </a:rPr>
              <a:t>EVIDENCE</a:t>
            </a:r>
            <a:endParaRPr lang="en-US" sz="900" dirty="0"/>
          </a:p>
        </p:txBody>
      </p:sp>
      <p:sp>
        <p:nvSpPr>
          <p:cNvPr id="49" name="Text 47"/>
          <p:cNvSpPr/>
          <p:nvPr/>
        </p:nvSpPr>
        <p:spPr>
          <a:xfrm>
            <a:off x="6391656" y="2999232"/>
            <a:ext cx="44805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50" dirty="0">
                <a:solidFill>
                  <a:srgbClr val="18221F"/>
                </a:solidFill>
              </a:rPr>
              <a:t>snapshot schema and repository tests protect stored records.</a:t>
            </a:r>
            <a:endParaRPr lang="en-US" sz="1350" dirty="0"/>
          </a:p>
        </p:txBody>
      </p:sp>
      <p:sp>
        <p:nvSpPr>
          <p:cNvPr id="50" name="Shape 48"/>
          <p:cNvSpPr/>
          <p:nvPr/>
        </p:nvSpPr>
        <p:spPr>
          <a:xfrm>
            <a:off x="749808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E6A83B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932688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6A83B"/>
                </a:solidFill>
              </a:rPr>
              <a:t>REJECTED ALTERNATIVE</a:t>
            </a:r>
            <a:endParaRPr lang="en-US" sz="900" dirty="0"/>
          </a:p>
        </p:txBody>
      </p:sp>
      <p:sp>
        <p:nvSpPr>
          <p:cNvPr id="52" name="Text 50"/>
          <p:cNvSpPr/>
          <p:nvPr/>
        </p:nvSpPr>
        <p:spPr>
          <a:xfrm>
            <a:off x="950976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recomputing history would lose what the user saw earlier.</a:t>
            </a:r>
            <a:endParaRPr lang="en-US" sz="1120" dirty="0"/>
          </a:p>
        </p:txBody>
      </p:sp>
      <p:sp>
        <p:nvSpPr>
          <p:cNvPr id="53" name="Shape 51"/>
          <p:cNvSpPr/>
          <p:nvPr/>
        </p:nvSpPr>
        <p:spPr>
          <a:xfrm>
            <a:off x="4389120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4572000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85F4B"/>
                </a:solidFill>
              </a:rPr>
              <a:t>RISK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4590288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snapshots add storage and schema discipline.</a:t>
            </a:r>
            <a:endParaRPr lang="en-US" sz="1120" dirty="0"/>
          </a:p>
        </p:txBody>
      </p:sp>
      <p:sp>
        <p:nvSpPr>
          <p:cNvPr id="56" name="Shape 54"/>
          <p:cNvSpPr/>
          <p:nvPr/>
        </p:nvSpPr>
        <p:spPr>
          <a:xfrm>
            <a:off x="8028432" y="4617720"/>
            <a:ext cx="3154680" cy="1051560"/>
          </a:xfrm>
          <a:prstGeom prst="rect">
            <a:avLst/>
          </a:prstGeom>
          <a:solidFill>
            <a:srgbClr val="FFFFFF"/>
          </a:solidFill>
          <a:ln w="10160">
            <a:solidFill>
              <a:srgbClr val="0F7A5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211312" y="4782312"/>
            <a:ext cx="14630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7A50"/>
                </a:solidFill>
              </a:rPr>
              <a:t>MITIGATION</a:t>
            </a:r>
            <a:endParaRPr lang="en-US" sz="900" dirty="0"/>
          </a:p>
        </p:txBody>
      </p:sp>
      <p:sp>
        <p:nvSpPr>
          <p:cNvPr id="58" name="Text 56"/>
          <p:cNvSpPr/>
          <p:nvPr/>
        </p:nvSpPr>
        <p:spPr>
          <a:xfrm>
            <a:off x="8229600" y="5093208"/>
            <a:ext cx="2743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20" dirty="0">
                <a:solidFill>
                  <a:srgbClr val="18221F"/>
                </a:solidFill>
              </a:rPr>
              <a:t>store normalized aggregate inputs, not raw transaction descriptions.</a:t>
            </a:r>
            <a:endParaRPr lang="en-US" sz="11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SECURITY BOUNDARY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Apply ownership and session boundaries consistently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hosted demo uses the same auth and data-isolation rules as the local system.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82296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0F7A5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822960" y="2487168"/>
            <a:ext cx="128016" cy="960120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113385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7A50"/>
                </a:solidFill>
              </a:rPr>
              <a:t>Session</a:t>
            </a:r>
            <a:endParaRPr lang="en-US" sz="1300" dirty="0"/>
          </a:p>
        </p:txBody>
      </p:sp>
      <p:sp>
        <p:nvSpPr>
          <p:cNvPr id="47" name="Text 45"/>
          <p:cNvSpPr/>
          <p:nvPr/>
        </p:nvSpPr>
        <p:spPr>
          <a:xfrm>
            <a:off x="245059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HTTP-only cookie; only a hashed opaque token is stored server-side</a:t>
            </a:r>
            <a:endParaRPr lang="en-US" sz="1220" dirty="0"/>
          </a:p>
        </p:txBody>
      </p:sp>
      <p:sp>
        <p:nvSpPr>
          <p:cNvPr id="48" name="Shape 46"/>
          <p:cNvSpPr/>
          <p:nvPr/>
        </p:nvSpPr>
        <p:spPr>
          <a:xfrm>
            <a:off x="6263640" y="248716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2563A8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63640" y="2487168"/>
            <a:ext cx="128016" cy="960120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6574536" y="267004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A8"/>
                </a:solidFill>
              </a:rPr>
              <a:t>CSRF</a:t>
            </a:r>
            <a:endParaRPr lang="en-US" sz="1300" dirty="0"/>
          </a:p>
        </p:txBody>
      </p:sp>
      <p:sp>
        <p:nvSpPr>
          <p:cNvPr id="51" name="Text 49"/>
          <p:cNvSpPr/>
          <p:nvPr/>
        </p:nvSpPr>
        <p:spPr>
          <a:xfrm>
            <a:off x="7891272" y="267004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Unsafe authenticated methods require a CSRF token</a:t>
            </a:r>
            <a:endParaRPr lang="en-US" sz="1220" dirty="0"/>
          </a:p>
        </p:txBody>
      </p:sp>
      <p:sp>
        <p:nvSpPr>
          <p:cNvPr id="52" name="Shape 50"/>
          <p:cNvSpPr/>
          <p:nvPr/>
        </p:nvSpPr>
        <p:spPr>
          <a:xfrm>
            <a:off x="82296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D85F4B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822960" y="3904488"/>
            <a:ext cx="128016" cy="960120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113385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85F4B"/>
                </a:solidFill>
              </a:rPr>
              <a:t>Ownership</a:t>
            </a:r>
            <a:endParaRPr lang="en-US" sz="1300" dirty="0"/>
          </a:p>
        </p:txBody>
      </p:sp>
      <p:sp>
        <p:nvSpPr>
          <p:cNvPr id="55" name="Text 53"/>
          <p:cNvSpPr/>
          <p:nvPr/>
        </p:nvSpPr>
        <p:spPr>
          <a:xfrm>
            <a:off x="245059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Private cross-user resource access returns 404</a:t>
            </a:r>
            <a:endParaRPr lang="en-US" sz="1220" dirty="0"/>
          </a:p>
        </p:txBody>
      </p:sp>
      <p:sp>
        <p:nvSpPr>
          <p:cNvPr id="56" name="Shape 54"/>
          <p:cNvSpPr/>
          <p:nvPr/>
        </p:nvSpPr>
        <p:spPr>
          <a:xfrm>
            <a:off x="6263640" y="3904488"/>
            <a:ext cx="4892040" cy="960120"/>
          </a:xfrm>
          <a:prstGeom prst="rect">
            <a:avLst/>
          </a:prstGeom>
          <a:solidFill>
            <a:srgbClr val="FFFFFF"/>
          </a:solidFill>
          <a:ln w="15240">
            <a:solidFill>
              <a:srgbClr val="E6A83B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263640" y="3904488"/>
            <a:ext cx="128016" cy="960120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6574536" y="4087368"/>
            <a:ext cx="12344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6A83B"/>
                </a:solidFill>
              </a:rPr>
              <a:t>Hosting</a:t>
            </a:r>
            <a:endParaRPr lang="en-US" sz="1300" dirty="0"/>
          </a:p>
        </p:txBody>
      </p:sp>
      <p:sp>
        <p:nvSpPr>
          <p:cNvPr id="59" name="Text 57"/>
          <p:cNvSpPr/>
          <p:nvPr/>
        </p:nvSpPr>
        <p:spPr>
          <a:xfrm>
            <a:off x="7891272" y="4087368"/>
            <a:ext cx="29260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20" dirty="0">
                <a:solidFill>
                  <a:srgbClr val="18221F"/>
                </a:solidFill>
              </a:rPr>
              <a:t>Railway uses secure cookies, allowlisted origins, and PostgreSQL</a:t>
            </a:r>
            <a:endParaRPr lang="en-US" sz="1220" dirty="0"/>
          </a:p>
        </p:txBody>
      </p:sp>
      <p:sp>
        <p:nvSpPr>
          <p:cNvPr id="60" name="Shape 58"/>
          <p:cNvSpPr/>
          <p:nvPr/>
        </p:nvSpPr>
        <p:spPr>
          <a:xfrm>
            <a:off x="960120" y="5440680"/>
            <a:ext cx="10149840" cy="475488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1143000" y="5596128"/>
            <a:ext cx="978408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20" b="1" dirty="0">
                <a:solidFill>
                  <a:srgbClr val="F6F1E7"/>
                </a:solidFill>
              </a:rPr>
              <a:t>Demo failure case: unauthorized or cross-user access fails without exposing another user's financial data.</a:t>
            </a:r>
            <a:endParaRPr lang="en-US" sz="12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AI AND REVIEW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explains committed results, but does not produce them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The planning workflow still works when the AI provider is unavailable.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658368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0F7A50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813816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0F7A50"/>
                </a:solidFill>
              </a:rPr>
              <a:t>COMMITTED</a:t>
            </a:r>
            <a:endParaRPr lang="en-US" sz="880" dirty="0"/>
          </a:p>
        </p:txBody>
      </p:sp>
      <p:sp>
        <p:nvSpPr>
          <p:cNvPr id="46" name="Text 44"/>
          <p:cNvSpPr/>
          <p:nvPr/>
        </p:nvSpPr>
        <p:spPr>
          <a:xfrm>
            <a:off x="813816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snapshot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2258568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2926080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38BDF8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081528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38BDF8"/>
                </a:solidFill>
              </a:rPr>
              <a:t>MINIMIZED</a:t>
            </a:r>
            <a:endParaRPr lang="en-US" sz="880" dirty="0"/>
          </a:p>
        </p:txBody>
      </p:sp>
      <p:sp>
        <p:nvSpPr>
          <p:cNvPr id="50" name="Text 48"/>
          <p:cNvSpPr/>
          <p:nvPr/>
        </p:nvSpPr>
        <p:spPr>
          <a:xfrm>
            <a:off x="3081528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aggregate payload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4526280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2" name="Shape 50"/>
          <p:cNvSpPr/>
          <p:nvPr/>
        </p:nvSpPr>
        <p:spPr>
          <a:xfrm>
            <a:off x="5193792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5349240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E6A83B"/>
                </a:solidFill>
              </a:rPr>
              <a:t>GENERATED</a:t>
            </a:r>
            <a:endParaRPr lang="en-US" sz="880" dirty="0"/>
          </a:p>
        </p:txBody>
      </p:sp>
      <p:sp>
        <p:nvSpPr>
          <p:cNvPr id="54" name="Text 52"/>
          <p:cNvSpPr/>
          <p:nvPr/>
        </p:nvSpPr>
        <p:spPr>
          <a:xfrm>
            <a:off x="5349240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explanation prose</a:t>
            </a:r>
            <a:endParaRPr lang="en-US" sz="900" dirty="0"/>
          </a:p>
        </p:txBody>
      </p:sp>
      <p:sp>
        <p:nvSpPr>
          <p:cNvPr id="55" name="Shape 53"/>
          <p:cNvSpPr/>
          <p:nvPr/>
        </p:nvSpPr>
        <p:spPr>
          <a:xfrm>
            <a:off x="6793992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56" name="Shape 54"/>
          <p:cNvSpPr/>
          <p:nvPr/>
        </p:nvSpPr>
        <p:spPr>
          <a:xfrm>
            <a:off x="7461504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8BD8B0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7616952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8BD8B0"/>
                </a:solidFill>
              </a:rPr>
              <a:t>VALIDATED</a:t>
            </a:r>
            <a:endParaRPr lang="en-US" sz="880" dirty="0"/>
          </a:p>
        </p:txBody>
      </p:sp>
      <p:sp>
        <p:nvSpPr>
          <p:cNvPr id="58" name="Text 56"/>
          <p:cNvSpPr/>
          <p:nvPr/>
        </p:nvSpPr>
        <p:spPr>
          <a:xfrm>
            <a:off x="7616952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schema + snapshot</a:t>
            </a:r>
            <a:endParaRPr lang="en-US" sz="900" dirty="0"/>
          </a:p>
        </p:txBody>
      </p:sp>
      <p:sp>
        <p:nvSpPr>
          <p:cNvPr id="59" name="Shape 57"/>
          <p:cNvSpPr/>
          <p:nvPr/>
        </p:nvSpPr>
        <p:spPr>
          <a:xfrm>
            <a:off x="9061704" y="3328416"/>
            <a:ext cx="676656" cy="0"/>
          </a:xfrm>
          <a:prstGeom prst="line">
            <a:avLst/>
          </a:prstGeom>
          <a:noFill/>
          <a:ln w="12700">
            <a:solidFill>
              <a:srgbClr val="6C8377"/>
            </a:solidFill>
            <a:prstDash val="solid"/>
            <a:tailEnd type="triangle"/>
          </a:ln>
        </p:spPr>
      </p:sp>
      <p:sp>
        <p:nvSpPr>
          <p:cNvPr id="60" name="Shape 58"/>
          <p:cNvSpPr/>
          <p:nvPr/>
        </p:nvSpPr>
        <p:spPr>
          <a:xfrm>
            <a:off x="9729216" y="2743200"/>
            <a:ext cx="1572768" cy="1170432"/>
          </a:xfrm>
          <a:prstGeom prst="hexagon">
            <a:avLst/>
          </a:prstGeom>
          <a:solidFill>
            <a:srgbClr val="17201C"/>
          </a:solidFill>
          <a:ln w="14605">
            <a:solidFill>
              <a:srgbClr val="2563A8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9884664" y="3054096"/>
            <a:ext cx="126187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80" b="1" dirty="0">
                <a:solidFill>
                  <a:srgbClr val="2563A8"/>
                </a:solidFill>
              </a:rPr>
              <a:t>RENDERED</a:t>
            </a:r>
            <a:endParaRPr lang="en-US" sz="880" dirty="0"/>
          </a:p>
        </p:txBody>
      </p:sp>
      <p:sp>
        <p:nvSpPr>
          <p:cNvPr id="62" name="Text 60"/>
          <p:cNvSpPr/>
          <p:nvPr/>
        </p:nvSpPr>
        <p:spPr>
          <a:xfrm>
            <a:off x="9884664" y="3310128"/>
            <a:ext cx="1261872" cy="1554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900" dirty="0">
                <a:solidFill>
                  <a:srgbClr val="C7D8CF"/>
                </a:solidFill>
              </a:rPr>
              <a:t>backend numbers</a:t>
            </a:r>
            <a:endParaRPr lang="en-US" sz="900" dirty="0"/>
          </a:p>
        </p:txBody>
      </p:sp>
      <p:sp>
        <p:nvSpPr>
          <p:cNvPr id="63" name="Text 61"/>
          <p:cNvSpPr/>
          <p:nvPr/>
        </p:nvSpPr>
        <p:spPr>
          <a:xfrm>
            <a:off x="1051560" y="4864608"/>
            <a:ext cx="9966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6F1E7"/>
                </a:solidFill>
              </a:rPr>
              <a:t>Runtime AI is allowed to explain a committed calculation. It is not allowed to become the calculator.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CFA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AF4"/>
          </a:solidFill>
          <a:ln w="12700">
            <a:solidFill>
              <a:srgbClr val="FCFAF4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EEF2EE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B9C7BF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8766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F7A50"/>
                </a:solidFill>
              </a:rPr>
              <a:t>VERIFICATION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18221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Verification follows the system boundaries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68766F"/>
                </a:solidFill>
              </a:rPr>
              <a:t>The checks focus on calculation correctness, data isolation, persistence, and frontend contracts.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14400" y="2578608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pace golden</a:t>
            </a:r>
            <a:endParaRPr lang="en-US" sz="1200" dirty="0"/>
          </a:p>
        </p:txBody>
      </p:sp>
      <p:sp>
        <p:nvSpPr>
          <p:cNvPr id="45" name="Shape 43"/>
          <p:cNvSpPr/>
          <p:nvPr/>
        </p:nvSpPr>
        <p:spPr>
          <a:xfrm>
            <a:off x="2606040" y="2606040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2606040" y="2606040"/>
            <a:ext cx="6309360" cy="164592"/>
          </a:xfrm>
          <a:prstGeom prst="rect">
            <a:avLst/>
          </a:prstGeom>
          <a:solidFill>
            <a:srgbClr val="0F7A50"/>
          </a:solidFill>
          <a:ln w="12700">
            <a:solidFill>
              <a:srgbClr val="0F7A50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914400" y="3236976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API + auth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2606040" y="3264408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2606040" y="3264408"/>
            <a:ext cx="5760720" cy="164592"/>
          </a:xfrm>
          <a:prstGeom prst="rect">
            <a:avLst/>
          </a:prstGeom>
          <a:solidFill>
            <a:srgbClr val="2563A8"/>
          </a:solidFill>
          <a:ln w="12700">
            <a:solidFill>
              <a:srgbClr val="2563A8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914400" y="3895344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migration smoke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2606040" y="3922776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2606040" y="3922776"/>
            <a:ext cx="4937760" cy="164592"/>
          </a:xfrm>
          <a:prstGeom prst="rect">
            <a:avLst/>
          </a:prstGeom>
          <a:solidFill>
            <a:srgbClr val="E6A83B"/>
          </a:solidFill>
          <a:ln w="12700">
            <a:solidFill>
              <a:srgbClr val="E6A83B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914400" y="4553712"/>
            <a:ext cx="1417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8221F"/>
                </a:solidFill>
              </a:rPr>
              <a:t>frontend checks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606040" y="4581144"/>
            <a:ext cx="6858000" cy="164592"/>
          </a:xfrm>
          <a:prstGeom prst="rect">
            <a:avLst/>
          </a:prstGeom>
          <a:solidFill>
            <a:srgbClr val="E8EEE9"/>
          </a:solidFill>
          <a:ln w="12700">
            <a:solidFill>
              <a:srgbClr val="E8EEE9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2606040" y="4581144"/>
            <a:ext cx="5349240" cy="164592"/>
          </a:xfrm>
          <a:prstGeom prst="rect">
            <a:avLst/>
          </a:prstGeom>
          <a:solidFill>
            <a:srgbClr val="D85F4B"/>
          </a:solidFill>
          <a:ln w="12700">
            <a:solidFill>
              <a:srgbClr val="D85F4B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9875520" y="2578608"/>
            <a:ext cx="1371600" cy="2788920"/>
          </a:xfrm>
          <a:prstGeom prst="rect">
            <a:avLst/>
          </a:prstGeom>
          <a:solidFill>
            <a:srgbClr val="18221F"/>
          </a:solidFill>
          <a:ln w="12700">
            <a:solidFill>
              <a:srgbClr val="18221F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10058400" y="2880360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E6A83B"/>
                </a:solidFill>
              </a:rPr>
              <a:t>Known gap</a:t>
            </a:r>
            <a:endParaRPr lang="en-US" sz="1050" dirty="0"/>
          </a:p>
        </p:txBody>
      </p:sp>
      <p:sp>
        <p:nvSpPr>
          <p:cNvPr id="58" name="Text 56"/>
          <p:cNvSpPr/>
          <p:nvPr/>
        </p:nvSpPr>
        <p:spPr>
          <a:xfrm>
            <a:off x="10040112" y="3401568"/>
            <a:ext cx="1051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6F1E7"/>
                </a:solidFill>
              </a:rPr>
              <a:t>Tests prove contracts, not production load.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014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413"/>
          </a:solidFill>
          <a:ln w="12700">
            <a:solidFill>
              <a:srgbClr val="10141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858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1887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6916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1945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26974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2004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7033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062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7091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52120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57150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2179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7208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2237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266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296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7325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23544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973836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024128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1074420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1247120" y="594360"/>
            <a:ext cx="0" cy="557784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920" y="7772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02920" y="12801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02920" y="17830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502920" y="22860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" y="27889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02920" y="32918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02920" y="37947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02920" y="429768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502920" y="480060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02920" y="530352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02920" y="580644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02920" y="6309360"/>
            <a:ext cx="11201400" cy="0"/>
          </a:xfrm>
          <a:prstGeom prst="line">
            <a:avLst/>
          </a:prstGeom>
          <a:noFill/>
          <a:ln w="4445">
            <a:solidFill>
              <a:srgbClr val="1B2421">
                <a:alpha val="75000"/>
              </a:srgbClr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75488" y="429768"/>
            <a:ext cx="11247120" cy="0"/>
          </a:xfrm>
          <a:prstGeom prst="line">
            <a:avLst/>
          </a:prstGeom>
          <a:noFill/>
          <a:ln w="10160">
            <a:solidFill>
              <a:srgbClr val="32413B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566928" y="256032"/>
            <a:ext cx="1371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GOALWISE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1192256" y="256032"/>
            <a:ext cx="53035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8AA29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75488" y="6419088"/>
            <a:ext cx="11247120" cy="36576"/>
          </a:xfrm>
          <a:prstGeom prst="rect">
            <a:avLst/>
          </a:prstGeom>
          <a:solidFill>
            <a:srgbClr val="8BD8B0"/>
          </a:solidFill>
          <a:ln w="12700">
            <a:solidFill>
              <a:srgbClr val="8BD8B0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58368" y="768096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BD8B0"/>
                </a:solidFill>
              </a:rPr>
              <a:t>LIVE DEMO CONTRACT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58368" y="1069848"/>
            <a:ext cx="79552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900" b="1" dirty="0">
                <a:solidFill>
                  <a:srgbClr val="F6F1E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live demo follows the same path</a:t>
            </a:r>
            <a:endParaRPr lang="en-US" sz="2900" dirty="0"/>
          </a:p>
        </p:txBody>
      </p:sp>
      <p:sp>
        <p:nvSpPr>
          <p:cNvPr id="43" name="Text 41"/>
          <p:cNvSpPr/>
          <p:nvPr/>
        </p:nvSpPr>
        <p:spPr>
          <a:xfrm>
            <a:off x="676656" y="1764792"/>
            <a:ext cx="7040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AEBFB6"/>
                </a:solidFill>
              </a:rPr>
              <a:t>Show the normal planning flow, one safe failure, and the engineering evidence.</a:t>
            </a:r>
            <a:endParaRPr lang="en-US" sz="1300" dirty="0"/>
          </a:p>
        </p:txBody>
      </p:sp>
      <p:sp>
        <p:nvSpPr>
          <p:cNvPr id="44" name="Text 42"/>
          <p:cNvSpPr/>
          <p:nvPr/>
        </p:nvSpPr>
        <p:spPr>
          <a:xfrm>
            <a:off x="96012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7A50"/>
                </a:solidFill>
              </a:rPr>
              <a:t>01</a:t>
            </a:r>
            <a:endParaRPr lang="en-US" sz="2000" dirty="0"/>
          </a:p>
        </p:txBody>
      </p:sp>
      <p:sp>
        <p:nvSpPr>
          <p:cNvPr id="45" name="Shape 43"/>
          <p:cNvSpPr/>
          <p:nvPr/>
        </p:nvSpPr>
        <p:spPr>
          <a:xfrm>
            <a:off x="960120" y="3127248"/>
            <a:ext cx="2651760" cy="0"/>
          </a:xfrm>
          <a:prstGeom prst="line">
            <a:avLst/>
          </a:prstGeom>
          <a:noFill/>
          <a:ln w="20320">
            <a:solidFill>
              <a:srgbClr val="0F7A50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96012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Value path</a:t>
            </a:r>
            <a:endParaRPr lang="en-US" sz="1500" dirty="0"/>
          </a:p>
        </p:txBody>
      </p:sp>
      <p:sp>
        <p:nvSpPr>
          <p:cNvPr id="47" name="Text 45"/>
          <p:cNvSpPr/>
          <p:nvPr/>
        </p:nvSpPr>
        <p:spPr>
          <a:xfrm>
            <a:off x="96012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Load plan and read weekly safe-to-spend</a:t>
            </a:r>
            <a:endParaRPr lang="en-US" sz="1200" dirty="0"/>
          </a:p>
        </p:txBody>
      </p:sp>
      <p:sp>
        <p:nvSpPr>
          <p:cNvPr id="48" name="Text 46"/>
          <p:cNvSpPr/>
          <p:nvPr/>
        </p:nvSpPr>
        <p:spPr>
          <a:xfrm>
            <a:off x="466344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E6A83B"/>
                </a:solidFill>
              </a:rPr>
              <a:t>02</a:t>
            </a:r>
            <a:endParaRPr lang="en-US" sz="2000" dirty="0"/>
          </a:p>
        </p:txBody>
      </p:sp>
      <p:sp>
        <p:nvSpPr>
          <p:cNvPr id="49" name="Shape 47"/>
          <p:cNvSpPr/>
          <p:nvPr/>
        </p:nvSpPr>
        <p:spPr>
          <a:xfrm>
            <a:off x="4663440" y="3127248"/>
            <a:ext cx="2651760" cy="0"/>
          </a:xfrm>
          <a:prstGeom prst="line">
            <a:avLst/>
          </a:prstGeom>
          <a:noFill/>
          <a:ln w="20320">
            <a:solidFill>
              <a:srgbClr val="E6A83B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466344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Failure path</a:t>
            </a:r>
            <a:endParaRPr lang="en-US" sz="1500" dirty="0"/>
          </a:p>
        </p:txBody>
      </p:sp>
      <p:sp>
        <p:nvSpPr>
          <p:cNvPr id="51" name="Text 49"/>
          <p:cNvSpPr/>
          <p:nvPr/>
        </p:nvSpPr>
        <p:spPr>
          <a:xfrm>
            <a:off x="466344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Invalid or unauthorized access fails safely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8366760" y="2651760"/>
            <a:ext cx="7498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8BDF8"/>
                </a:solidFill>
              </a:rPr>
              <a:t>03</a:t>
            </a:r>
            <a:endParaRPr lang="en-US" sz="2000" dirty="0"/>
          </a:p>
        </p:txBody>
      </p:sp>
      <p:sp>
        <p:nvSpPr>
          <p:cNvPr id="53" name="Shape 51"/>
          <p:cNvSpPr/>
          <p:nvPr/>
        </p:nvSpPr>
        <p:spPr>
          <a:xfrm>
            <a:off x="8366760" y="3127248"/>
            <a:ext cx="2651760" cy="0"/>
          </a:xfrm>
          <a:prstGeom prst="line">
            <a:avLst/>
          </a:prstGeom>
          <a:noFill/>
          <a:ln w="20320">
            <a:solidFill>
              <a:srgbClr val="38BDF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8366760" y="3364992"/>
            <a:ext cx="2651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6F1E7"/>
                </a:solidFill>
              </a:rPr>
              <a:t>Evidence path</a:t>
            </a:r>
            <a:endParaRPr lang="en-US" sz="1500" dirty="0"/>
          </a:p>
        </p:txBody>
      </p:sp>
      <p:sp>
        <p:nvSpPr>
          <p:cNvPr id="55" name="Text 53"/>
          <p:cNvSpPr/>
          <p:nvPr/>
        </p:nvSpPr>
        <p:spPr>
          <a:xfrm>
            <a:off x="8366760" y="3785616"/>
            <a:ext cx="25603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BFD1C8"/>
                </a:solidFill>
              </a:rPr>
              <a:t>Show snapshot and test/deploy proof</a:t>
            </a:r>
            <a:endParaRPr lang="en-US" sz="1200" dirty="0"/>
          </a:p>
        </p:txBody>
      </p:sp>
      <p:sp>
        <p:nvSpPr>
          <p:cNvPr id="56" name="Text 54"/>
          <p:cNvSpPr/>
          <p:nvPr/>
        </p:nvSpPr>
        <p:spPr>
          <a:xfrm>
            <a:off x="987552" y="5321808"/>
            <a:ext cx="9966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8BD8B0"/>
                </a:solidFill>
              </a:rPr>
              <a:t>Deck stops here. Product proof starts in the browser.</a:t>
            </a:r>
            <a:endParaRPr lang="en-US" sz="1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GoalWise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GoalWise Final Demo - High-End</dc:title>
  <dc:subject>Graduate CS final demo</dc:subject>
  <dc:creator>GoalWise Team</dc:creator>
  <cp:lastModifiedBy>GoalWise Team</cp:lastModifiedBy>
  <cp:revision>1</cp:revision>
  <dcterms:created xsi:type="dcterms:W3CDTF">2026-09-11T03:02:28Z</dcterms:created>
  <dcterms:modified xsi:type="dcterms:W3CDTF">2026-09-11T03:02:28Z</dcterms:modified>
</cp:coreProperties>
</file>