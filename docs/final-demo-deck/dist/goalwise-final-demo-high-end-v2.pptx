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Start with the product question. Explain that the scope is intentionally small: one goal, manual inputs, and a backend calculation the team can 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0:55. Define the product boundary before discussing architecture. The important point is that the implementation is scoped to the planning loop, not general personal finance.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Walk through the request path: browser to API, service validation, pace engine, snapshot, dashboard response. State clearly that React does not duplicate the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Present this as the main technical decision. The calculation has to be testable and repeatable because it affects financial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0:55. Explain why this matters for review. The app can show what was calculated at a point in time instead of silently changing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0:55. Explain that security is part of the product contract. Financial data only makes sense if ownership checks are enforced at the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0:55. Separate runtime AI from development assistance. The runtime feature is explanation only; the financial result comes from pace-v1.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Tie the test groups back to the architecture. Mention the honest limit: these checks do not prove production load behavior or every future financial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0:25. Keep this as the handoff. The next screen should be the app, not another explanation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3"/>
          </a:solidFill>
          <a:ln w="12700">
            <a:solidFill>
              <a:srgbClr val="1014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3241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A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8BD8B0"/>
          </a:solidFill>
          <a:ln w="12700">
            <a:solidFill>
              <a:srgbClr val="8BD8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3"/>
          </a:solidFill>
          <a:ln w="12700">
            <a:solidFill>
              <a:srgbClr val="10141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" y="713232"/>
            <a:ext cx="146304" cy="5257800"/>
          </a:xfrm>
          <a:prstGeom prst="rect">
            <a:avLst/>
          </a:prstGeom>
          <a:solidFill>
            <a:srgbClr val="0F7A50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1560" y="9326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D8B0"/>
                </a:solidFill>
              </a:rPr>
              <a:t>GRADUATE CS FINAL DEMO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87552" y="133502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0" b="1" dirty="0">
                <a:solidFill>
                  <a:srgbClr val="F6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GoalWise</a:t>
            </a:r>
            <a:endParaRPr lang="en-US" sz="4900" dirty="0"/>
          </a:p>
        </p:txBody>
      </p:sp>
      <p:sp>
        <p:nvSpPr>
          <p:cNvPr id="45" name="Text 43"/>
          <p:cNvSpPr/>
          <p:nvPr/>
        </p:nvSpPr>
        <p:spPr>
          <a:xfrm>
            <a:off x="1033272" y="214884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8CEC4"/>
                </a:solidFill>
              </a:rPr>
              <a:t>weekly planning from explicit assumptions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6400800" y="914400"/>
            <a:ext cx="4023360" cy="4023360"/>
          </a:xfrm>
          <a:prstGeom prst="arc">
            <a:avLst/>
          </a:prstGeom>
          <a:noFill/>
          <a:ln w="27940">
            <a:solidFill>
              <a:srgbClr val="8BD8B0">
                <a:alpha val="9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03720" y="1417320"/>
            <a:ext cx="3017520" cy="3017520"/>
          </a:xfrm>
          <a:prstGeom prst="arc">
            <a:avLst/>
          </a:prstGeom>
          <a:noFill/>
          <a:ln w="19050">
            <a:solidFill>
              <a:srgbClr val="E6A83B">
                <a:alpha val="8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08392" y="2157984"/>
            <a:ext cx="1508760" cy="1508760"/>
          </a:xfrm>
          <a:prstGeom prst="ellipse">
            <a:avLst/>
          </a:prstGeom>
          <a:solidFill>
            <a:srgbClr val="172C25"/>
          </a:solidFill>
          <a:ln w="16510">
            <a:solidFill>
              <a:srgbClr val="0F7A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08392" y="239572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D8B0"/>
                </a:solidFill>
              </a:rPr>
              <a:t>$</a:t>
            </a:r>
            <a:endParaRPr lang="en-US" sz="3400" dirty="0"/>
          </a:p>
        </p:txBody>
      </p:sp>
      <p:sp>
        <p:nvSpPr>
          <p:cNvPr id="50" name="Shape 48"/>
          <p:cNvSpPr/>
          <p:nvPr/>
        </p:nvSpPr>
        <p:spPr>
          <a:xfrm>
            <a:off x="6263640" y="4983480"/>
            <a:ext cx="1627632" cy="749808"/>
          </a:xfrm>
          <a:prstGeom prst="rect">
            <a:avLst/>
          </a:prstGeom>
          <a:solidFill>
            <a:srgbClr val="17201C"/>
          </a:solidFill>
          <a:ln w="10160">
            <a:solidFill>
              <a:srgbClr val="30413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73368" y="511149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A50"/>
                </a:solidFill>
              </a:rPr>
              <a:t>ONE GOAL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373368" y="5394960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3A8"/>
                </a:solidFill>
              </a:rPr>
              <a:t>MVP scope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119872" y="4983480"/>
            <a:ext cx="1627632" cy="749808"/>
          </a:xfrm>
          <a:prstGeom prst="rect">
            <a:avLst/>
          </a:prstGeom>
          <a:solidFill>
            <a:srgbClr val="17201C"/>
          </a:solidFill>
          <a:ln w="10160">
            <a:solidFill>
              <a:srgbClr val="30413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0" y="511149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A8"/>
                </a:solidFill>
              </a:rPr>
              <a:t>PACE-v1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8229600" y="5394960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3A8"/>
                </a:solidFill>
              </a:rPr>
              <a:t>deterministic core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976104" y="4983480"/>
            <a:ext cx="1627632" cy="749808"/>
          </a:xfrm>
          <a:prstGeom prst="rect">
            <a:avLst/>
          </a:prstGeom>
          <a:solidFill>
            <a:srgbClr val="17201C"/>
          </a:solidFill>
          <a:ln w="10160">
            <a:solidFill>
              <a:srgbClr val="30413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85832" y="511149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A83B"/>
                </a:solidFill>
              </a:rPr>
              <a:t>AI EDGE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10085832" y="5394960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3A8"/>
                </a:solidFill>
              </a:rPr>
              <a:t>explain only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51560" y="502920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7E4DD"/>
                </a:solidFill>
              </a:rPr>
              <a:t>The product answers one question: can the user stay on pace for a target date?  /  The system turns manual assumptions into a weekly safe-to-spend number.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4"/>
          </a:solidFill>
          <a:ln w="12700">
            <a:solidFill>
              <a:srgbClr val="FCFA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B9C7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0F7A50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7680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A50"/>
                </a:solidFill>
              </a:rPr>
              <a:t>PRODUCT SCOPE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" y="106984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MVP keeps the planning problem bounded</a:t>
            </a:r>
            <a:endParaRPr lang="en-US" sz="2900" dirty="0"/>
          </a:p>
        </p:txBody>
      </p:sp>
      <p:sp>
        <p:nvSpPr>
          <p:cNvPr id="43" name="Text 41"/>
          <p:cNvSpPr/>
          <p:nvPr/>
        </p:nvSpPr>
        <p:spPr>
          <a:xfrm>
            <a:off x="676656" y="17647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8766F"/>
                </a:solidFill>
              </a:rPr>
              <a:t>The current system supports one active goal and explicit user-entered assumptions.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49808" y="2578608"/>
            <a:ext cx="3246120" cy="2670048"/>
          </a:xfrm>
          <a:prstGeom prst="rect">
            <a:avLst/>
          </a:prstGeom>
          <a:solidFill>
            <a:srgbClr val="F5FBF7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0976" y="28163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A50"/>
                </a:solidFill>
              </a:rPr>
              <a:t>CURRENT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50976" y="3136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21F"/>
                </a:solidFill>
              </a:rPr>
              <a:t>What the demo can defend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69264" y="3858768"/>
            <a:ext cx="155448" cy="0"/>
          </a:xfrm>
          <a:prstGeom prst="line">
            <a:avLst/>
          </a:prstGeom>
          <a:noFill/>
          <a:ln w="15240">
            <a:solidFill>
              <a:srgbClr val="0F7A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25296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21F"/>
                </a:solidFill>
              </a:rPr>
              <a:t>one active savings goal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69264" y="4242816"/>
            <a:ext cx="155448" cy="0"/>
          </a:xfrm>
          <a:prstGeom prst="line">
            <a:avLst/>
          </a:prstGeom>
          <a:noFill/>
          <a:ln w="15240">
            <a:solidFill>
              <a:srgbClr val="0F7A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25296" y="4133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21F"/>
                </a:solidFill>
              </a:rPr>
              <a:t>manual assumptions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69264" y="4626864"/>
            <a:ext cx="155448" cy="0"/>
          </a:xfrm>
          <a:prstGeom prst="line">
            <a:avLst/>
          </a:prstGeom>
          <a:noFill/>
          <a:ln w="15240">
            <a:solidFill>
              <a:srgbClr val="0F7A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25296" y="4517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21F"/>
                </a:solidFill>
              </a:rPr>
              <a:t>safe-to-spend + status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17136" y="2578608"/>
            <a:ext cx="3246120" cy="2670048"/>
          </a:xfrm>
          <a:prstGeom prst="rect">
            <a:avLst/>
          </a:prstGeom>
          <a:solidFill>
            <a:srgbClr val="F4F8FC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18304" y="28163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A8"/>
                </a:solidFill>
              </a:rPr>
              <a:t>EDGE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718304" y="3136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21F"/>
                </a:solidFill>
              </a:rPr>
              <a:t>Accepted but controlled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4736592" y="3858768"/>
            <a:ext cx="155448" cy="0"/>
          </a:xfrm>
          <a:prstGeom prst="line">
            <a:avLst/>
          </a:prstGeom>
          <a:noFill/>
          <a:ln w="15240">
            <a:solidFill>
              <a:srgbClr val="2563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92624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21F"/>
                </a:solidFill>
              </a:rPr>
              <a:t>CSV preview + confirmation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736592" y="4242816"/>
            <a:ext cx="155448" cy="0"/>
          </a:xfrm>
          <a:prstGeom prst="line">
            <a:avLst/>
          </a:prstGeom>
          <a:noFill/>
          <a:ln w="15240">
            <a:solidFill>
              <a:srgbClr val="2563A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92624" y="4133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21F"/>
                </a:solidFill>
              </a:rPr>
              <a:t>optional AI explanation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736592" y="4626864"/>
            <a:ext cx="155448" cy="0"/>
          </a:xfrm>
          <a:prstGeom prst="line">
            <a:avLst/>
          </a:prstGeom>
          <a:noFill/>
          <a:ln w="15240">
            <a:solidFill>
              <a:srgbClr val="2563A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92624" y="4517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21F"/>
                </a:solidFill>
              </a:rPr>
              <a:t>snapshot-scoped summaries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284464" y="2578608"/>
            <a:ext cx="3246120" cy="2670048"/>
          </a:xfrm>
          <a:prstGeom prst="rect">
            <a:avLst/>
          </a:prstGeom>
          <a:solidFill>
            <a:srgbClr val="FFF8F5"/>
          </a:solidFill>
          <a:ln w="12700">
            <a:solidFill>
              <a:srgbClr val="D85F4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85632" y="28163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F4B"/>
                </a:solidFill>
              </a:rPr>
              <a:t>DEFERRED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485632" y="3136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21F"/>
                </a:solidFill>
              </a:rPr>
              <a:t>Named honestly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8503920" y="3858768"/>
            <a:ext cx="155448" cy="0"/>
          </a:xfrm>
          <a:prstGeom prst="line">
            <a:avLst/>
          </a:prstGeom>
          <a:noFill/>
          <a:ln w="15240">
            <a:solidFill>
              <a:srgbClr val="D85F4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59952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21F"/>
                </a:solidFill>
              </a:rPr>
              <a:t>bank sync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503920" y="4242816"/>
            <a:ext cx="155448" cy="0"/>
          </a:xfrm>
          <a:prstGeom prst="line">
            <a:avLst/>
          </a:prstGeom>
          <a:noFill/>
          <a:ln w="15240">
            <a:solidFill>
              <a:srgbClr val="D85F4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59952" y="4133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21F"/>
                </a:solidFill>
              </a:rPr>
              <a:t>raw transaction import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8503920" y="4626864"/>
            <a:ext cx="155448" cy="0"/>
          </a:xfrm>
          <a:prstGeom prst="line">
            <a:avLst/>
          </a:prstGeom>
          <a:noFill/>
          <a:ln w="15240">
            <a:solidFill>
              <a:srgbClr val="D85F4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59952" y="4517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21F"/>
                </a:solidFill>
              </a:rPr>
              <a:t>multi-goal planning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3"/>
          </a:solidFill>
          <a:ln w="12700">
            <a:solidFill>
              <a:srgbClr val="1014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3241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A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8BD8B0"/>
          </a:solidFill>
          <a:ln w="12700">
            <a:solidFill>
              <a:srgbClr val="8BD8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7680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D8B0"/>
                </a:solidFill>
              </a:rPr>
              <a:t>SYSTEM ARCHITECTURE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" y="106984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moves through one backend calculation path</a:t>
            </a:r>
            <a:endParaRPr lang="en-US" sz="2900" dirty="0"/>
          </a:p>
        </p:txBody>
      </p:sp>
      <p:sp>
        <p:nvSpPr>
          <p:cNvPr id="43" name="Text 41"/>
          <p:cNvSpPr/>
          <p:nvPr/>
        </p:nvSpPr>
        <p:spPr>
          <a:xfrm>
            <a:off x="676656" y="17647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EBFB6"/>
                </a:solidFill>
              </a:rPr>
              <a:t>The frontend captures inputs and renders results; the backend owns the official numbers.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31520" y="2788920"/>
            <a:ext cx="1572768" cy="969264"/>
          </a:xfrm>
          <a:prstGeom prst="rect">
            <a:avLst/>
          </a:prstGeom>
          <a:solidFill>
            <a:srgbClr val="17201C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" y="29900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Browser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41248" y="33009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EBFB6"/>
                </a:solidFill>
              </a:rPr>
              <a:t>React renders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304288" y="3273552"/>
            <a:ext cx="603504" cy="0"/>
          </a:xfrm>
          <a:prstGeom prst="line">
            <a:avLst/>
          </a:prstGeom>
          <a:noFill/>
          <a:ln w="13970">
            <a:solidFill>
              <a:srgbClr val="6C8377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907792" y="2788920"/>
            <a:ext cx="1572768" cy="969264"/>
          </a:xfrm>
          <a:prstGeom prst="rect">
            <a:avLst/>
          </a:prstGeom>
          <a:solidFill>
            <a:srgbClr val="17201C"/>
          </a:solidFill>
          <a:ln w="13970">
            <a:solidFill>
              <a:srgbClr val="8BD8B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29900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D8B0"/>
                </a:solidFill>
              </a:rPr>
              <a:t>API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3017520" y="33009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EBFB6"/>
                </a:solidFill>
              </a:rPr>
              <a:t>FastAPI /api/v1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480560" y="3273552"/>
            <a:ext cx="603504" cy="0"/>
          </a:xfrm>
          <a:prstGeom prst="line">
            <a:avLst/>
          </a:prstGeom>
          <a:noFill/>
          <a:ln w="13970">
            <a:solidFill>
              <a:srgbClr val="6C8377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074920" y="2788920"/>
            <a:ext cx="1572768" cy="969264"/>
          </a:xfrm>
          <a:prstGeom prst="rect">
            <a:avLst/>
          </a:prstGeom>
          <a:solidFill>
            <a:srgbClr val="17201C"/>
          </a:solidFill>
          <a:ln w="13970">
            <a:solidFill>
              <a:srgbClr val="E6A8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84648" y="29900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A83B"/>
                </a:solidFill>
              </a:rPr>
              <a:t>Services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184648" y="33009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EBFB6"/>
                </a:solidFill>
              </a:rPr>
              <a:t>ownership + normalize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647688" y="3273552"/>
            <a:ext cx="603504" cy="0"/>
          </a:xfrm>
          <a:prstGeom prst="line">
            <a:avLst/>
          </a:prstGeom>
          <a:noFill/>
          <a:ln w="13970">
            <a:solidFill>
              <a:srgbClr val="6C8377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242048" y="2788920"/>
            <a:ext cx="1572768" cy="969264"/>
          </a:xfrm>
          <a:prstGeom prst="rect">
            <a:avLst/>
          </a:prstGeom>
          <a:solidFill>
            <a:srgbClr val="17201C"/>
          </a:solidFill>
          <a:ln w="13970">
            <a:solidFill>
              <a:srgbClr val="0F7A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51776" y="29900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A50"/>
                </a:solidFill>
              </a:rPr>
              <a:t>pace-v1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7351776" y="33009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EBFB6"/>
                </a:solidFill>
              </a:rPr>
              <a:t>pure calculation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814816" y="3273552"/>
            <a:ext cx="603504" cy="0"/>
          </a:xfrm>
          <a:prstGeom prst="line">
            <a:avLst/>
          </a:prstGeom>
          <a:noFill/>
          <a:ln w="13970">
            <a:solidFill>
              <a:srgbClr val="6C8377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9418320" y="2788920"/>
            <a:ext cx="1572768" cy="969264"/>
          </a:xfrm>
          <a:prstGeom prst="rect">
            <a:avLst/>
          </a:prstGeom>
          <a:solidFill>
            <a:srgbClr val="17201C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28048" y="29900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Snapshots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9528048" y="33009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EBFB6"/>
                </a:solidFill>
              </a:rPr>
              <a:t>immutable audit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86384" y="4800600"/>
            <a:ext cx="10378440" cy="566928"/>
          </a:xfrm>
          <a:prstGeom prst="rect">
            <a:avLst/>
          </a:prstGeom>
          <a:solidFill>
            <a:srgbClr val="17201C"/>
          </a:solidFill>
          <a:ln w="12700">
            <a:solidFill>
              <a:srgbClr val="31443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4128" y="4983480"/>
            <a:ext cx="989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6F1E7"/>
                </a:solidFill>
              </a:rPr>
              <a:t>Frontend formats and visualizes; the backend owns official financial outputs.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4"/>
          </a:solidFill>
          <a:ln w="12700">
            <a:solidFill>
              <a:srgbClr val="FCFA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B9C7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0F7A50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7680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A50"/>
                </a:solidFill>
              </a:rPr>
              <a:t>DECISION 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" y="106984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a deterministic pace engine for financial output</a:t>
            </a:r>
            <a:endParaRPr lang="en-US" sz="2900" dirty="0"/>
          </a:p>
        </p:txBody>
      </p:sp>
      <p:sp>
        <p:nvSpPr>
          <p:cNvPr id="43" name="Text 41"/>
          <p:cNvSpPr/>
          <p:nvPr/>
        </p:nvSpPr>
        <p:spPr>
          <a:xfrm>
            <a:off x="676656" y="17647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8766F"/>
                </a:solidFill>
              </a:rPr>
              <a:t>The same inputs, date, timezone, and formula version produce the same result.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49808" y="2523744"/>
            <a:ext cx="4892040" cy="1280160"/>
          </a:xfrm>
          <a:prstGeom prst="rect">
            <a:avLst/>
          </a:prstGeom>
          <a:solidFill>
            <a:srgbClr val="F3FBF7"/>
          </a:solidFill>
          <a:ln w="17780">
            <a:solidFill>
              <a:srgbClr val="0F7A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" y="2688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A50"/>
                </a:solidFill>
              </a:rPr>
              <a:t>CLAIM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50976" y="299923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8221F"/>
                </a:solidFill>
              </a:rPr>
              <a:t>safe-to-spend, shortfall, and pace status come from a deterministic engine.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6190488" y="2523744"/>
            <a:ext cx="489204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2688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</a:rPr>
              <a:t>EVIDENCE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91656" y="299923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8221F"/>
                </a:solidFill>
              </a:rPr>
              <a:t>pace-engine contract and golden tests check stable result behavior.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749808" y="4617720"/>
            <a:ext cx="31546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6A8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2688" y="4782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A83B"/>
                </a:solidFill>
              </a:rPr>
              <a:t>REJECTED ALTERNATIVE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50976" y="50932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21F"/>
                </a:solidFill>
              </a:rPr>
              <a:t>AI-generated calculations would be difficult to verify.</a:t>
            </a:r>
            <a:endParaRPr lang="en-US" sz="1120" dirty="0"/>
          </a:p>
        </p:txBody>
      </p:sp>
      <p:sp>
        <p:nvSpPr>
          <p:cNvPr id="53" name="Shape 51"/>
          <p:cNvSpPr/>
          <p:nvPr/>
        </p:nvSpPr>
        <p:spPr>
          <a:xfrm>
            <a:off x="4389120" y="4617720"/>
            <a:ext cx="31546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5F4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4782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5F4B"/>
                </a:solidFill>
              </a:rPr>
              <a:t>RISK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90288" y="50932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21F"/>
                </a:solidFill>
              </a:rPr>
              <a:t>deterministic formulas may be less flexible than open-ended advice.</a:t>
            </a:r>
            <a:endParaRPr lang="en-US" sz="1120" dirty="0"/>
          </a:p>
        </p:txBody>
      </p:sp>
      <p:sp>
        <p:nvSpPr>
          <p:cNvPr id="56" name="Shape 54"/>
          <p:cNvSpPr/>
          <p:nvPr/>
        </p:nvSpPr>
        <p:spPr>
          <a:xfrm>
            <a:off x="8028432" y="4617720"/>
            <a:ext cx="31546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0F7A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11312" y="4782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A50"/>
                </a:solidFill>
              </a:rPr>
              <a:t>MITIGATION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229600" y="50932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21F"/>
                </a:solidFill>
              </a:rPr>
              <a:t>keep explanations separate from the calculation authority.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4"/>
          </a:solidFill>
          <a:ln w="12700">
            <a:solidFill>
              <a:srgbClr val="FCFA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B9C7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0F7A50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7680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A50"/>
                </a:solidFill>
              </a:rPr>
              <a:t>DECISION 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" y="106984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Store each committed calculation as a snapshot</a:t>
            </a:r>
            <a:endParaRPr lang="en-US" sz="2900" dirty="0"/>
          </a:p>
        </p:txBody>
      </p:sp>
      <p:sp>
        <p:nvSpPr>
          <p:cNvPr id="43" name="Text 41"/>
          <p:cNvSpPr/>
          <p:nvPr/>
        </p:nvSpPr>
        <p:spPr>
          <a:xfrm>
            <a:off x="676656" y="17647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8766F"/>
                </a:solidFill>
              </a:rPr>
              <a:t>A snapshot records normalized inputs and versioned results for later review.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49808" y="2523744"/>
            <a:ext cx="4892040" cy="1280160"/>
          </a:xfrm>
          <a:prstGeom prst="rect">
            <a:avLst/>
          </a:prstGeom>
          <a:solidFill>
            <a:srgbClr val="F3FBF7"/>
          </a:solidFill>
          <a:ln w="17780">
            <a:solidFill>
              <a:srgbClr val="0F7A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" y="2688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A50"/>
                </a:solidFill>
              </a:rPr>
              <a:t>CLAIM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50976" y="299923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8221F"/>
                </a:solidFill>
              </a:rPr>
              <a:t>calculations are stored as immutable snapshots after input changes.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6190488" y="2523744"/>
            <a:ext cx="489204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2688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</a:rPr>
              <a:t>EVIDENCE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91656" y="299923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8221F"/>
                </a:solidFill>
              </a:rPr>
              <a:t>snapshot schema and repository tests protect stored records.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749808" y="4617720"/>
            <a:ext cx="31546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6A8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2688" y="4782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A83B"/>
                </a:solidFill>
              </a:rPr>
              <a:t>REJECTED ALTERNATIVE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50976" y="50932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21F"/>
                </a:solidFill>
              </a:rPr>
              <a:t>recomputing history would lose what the user saw earlier.</a:t>
            </a:r>
            <a:endParaRPr lang="en-US" sz="1120" dirty="0"/>
          </a:p>
        </p:txBody>
      </p:sp>
      <p:sp>
        <p:nvSpPr>
          <p:cNvPr id="53" name="Shape 51"/>
          <p:cNvSpPr/>
          <p:nvPr/>
        </p:nvSpPr>
        <p:spPr>
          <a:xfrm>
            <a:off x="4389120" y="4617720"/>
            <a:ext cx="31546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5F4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4782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5F4B"/>
                </a:solidFill>
              </a:rPr>
              <a:t>RISK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90288" y="50932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21F"/>
                </a:solidFill>
              </a:rPr>
              <a:t>snapshots add storage and schema discipline.</a:t>
            </a:r>
            <a:endParaRPr lang="en-US" sz="1120" dirty="0"/>
          </a:p>
        </p:txBody>
      </p:sp>
      <p:sp>
        <p:nvSpPr>
          <p:cNvPr id="56" name="Shape 54"/>
          <p:cNvSpPr/>
          <p:nvPr/>
        </p:nvSpPr>
        <p:spPr>
          <a:xfrm>
            <a:off x="8028432" y="4617720"/>
            <a:ext cx="31546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0F7A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11312" y="4782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A50"/>
                </a:solidFill>
              </a:rPr>
              <a:t>MITIGATION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229600" y="50932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21F"/>
                </a:solidFill>
              </a:rPr>
              <a:t>store normalized aggregate inputs, not raw transaction descriptions.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4"/>
          </a:solidFill>
          <a:ln w="12700">
            <a:solidFill>
              <a:srgbClr val="FCFA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B9C7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0F7A50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7680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A50"/>
                </a:solidFill>
              </a:rPr>
              <a:t>SECURITY BOUNDARY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" y="106984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Apply ownership and session boundaries consistently</a:t>
            </a:r>
            <a:endParaRPr lang="en-US" sz="2900" dirty="0"/>
          </a:p>
        </p:txBody>
      </p:sp>
      <p:sp>
        <p:nvSpPr>
          <p:cNvPr id="43" name="Text 41"/>
          <p:cNvSpPr/>
          <p:nvPr/>
        </p:nvSpPr>
        <p:spPr>
          <a:xfrm>
            <a:off x="676656" y="17647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8766F"/>
                </a:solidFill>
              </a:rPr>
              <a:t>The hosted demo uses the same auth and data-isolation rules as the local system.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22960" y="2487168"/>
            <a:ext cx="48920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A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960" y="2487168"/>
            <a:ext cx="128016" cy="960120"/>
          </a:xfrm>
          <a:prstGeom prst="rect">
            <a:avLst/>
          </a:prstGeom>
          <a:solidFill>
            <a:srgbClr val="0F7A50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33856" y="267004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A50"/>
                </a:solidFill>
              </a:rPr>
              <a:t>Session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450592" y="26700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21F"/>
                </a:solidFill>
              </a:rPr>
              <a:t>HTTP-only cookie; only a hashed opaque token is stored server-side</a:t>
            </a:r>
            <a:endParaRPr lang="en-US" sz="1220" dirty="0"/>
          </a:p>
        </p:txBody>
      </p:sp>
      <p:sp>
        <p:nvSpPr>
          <p:cNvPr id="48" name="Shape 46"/>
          <p:cNvSpPr/>
          <p:nvPr/>
        </p:nvSpPr>
        <p:spPr>
          <a:xfrm>
            <a:off x="6263640" y="2487168"/>
            <a:ext cx="48920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A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63640" y="2487168"/>
            <a:ext cx="128016" cy="9601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74536" y="267004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A8"/>
                </a:solidFill>
              </a:rPr>
              <a:t>CSRF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891272" y="26700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21F"/>
                </a:solidFill>
              </a:rPr>
              <a:t>Unsafe authenticated methods require a CSRF token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822960" y="3904488"/>
            <a:ext cx="48920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85F4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2960" y="3904488"/>
            <a:ext cx="128016" cy="960120"/>
          </a:xfrm>
          <a:prstGeom prst="rect">
            <a:avLst/>
          </a:prstGeom>
          <a:solidFill>
            <a:srgbClr val="D85F4B"/>
          </a:solidFill>
          <a:ln w="12700">
            <a:solidFill>
              <a:srgbClr val="D85F4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33856" y="408736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F4B"/>
                </a:solidFill>
              </a:rPr>
              <a:t>Ownership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2450592" y="408736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21F"/>
                </a:solidFill>
              </a:rPr>
              <a:t>Private cross-user resource access returns 404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6263640" y="3904488"/>
            <a:ext cx="48920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6A8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63640" y="3904488"/>
            <a:ext cx="128016" cy="960120"/>
          </a:xfrm>
          <a:prstGeom prst="rect">
            <a:avLst/>
          </a:prstGeom>
          <a:solidFill>
            <a:srgbClr val="E6A83B"/>
          </a:solidFill>
          <a:ln w="12700">
            <a:solidFill>
              <a:srgbClr val="E6A83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74536" y="408736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A83B"/>
                </a:solidFill>
              </a:rPr>
              <a:t>Hosting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891272" y="408736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21F"/>
                </a:solidFill>
              </a:rPr>
              <a:t>Railway uses secure cookies, allowlisted origins, and PostgreSQL</a:t>
            </a:r>
            <a:endParaRPr lang="en-US" sz="1220" dirty="0"/>
          </a:p>
        </p:txBody>
      </p:sp>
      <p:sp>
        <p:nvSpPr>
          <p:cNvPr id="60" name="Shape 58"/>
          <p:cNvSpPr/>
          <p:nvPr/>
        </p:nvSpPr>
        <p:spPr>
          <a:xfrm>
            <a:off x="960120" y="5440680"/>
            <a:ext cx="10149840" cy="475488"/>
          </a:xfrm>
          <a:prstGeom prst="rect">
            <a:avLst/>
          </a:prstGeom>
          <a:solidFill>
            <a:srgbClr val="18221F"/>
          </a:solidFill>
          <a:ln w="12700">
            <a:solidFill>
              <a:srgbClr val="18221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43000" y="5596128"/>
            <a:ext cx="9784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6F1E7"/>
                </a:solidFill>
              </a:rPr>
              <a:t>Demo failure case: unauthorized or cross-user access fails without exposing another user's financial data.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3"/>
          </a:solidFill>
          <a:ln w="12700">
            <a:solidFill>
              <a:srgbClr val="1014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3241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A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8BD8B0"/>
          </a:solidFill>
          <a:ln w="12700">
            <a:solidFill>
              <a:srgbClr val="8BD8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7680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D8B0"/>
                </a:solidFill>
              </a:rPr>
              <a:t>AI AND REVIEW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" y="106984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explains committed results, but does not produce them</a:t>
            </a:r>
            <a:endParaRPr lang="en-US" sz="2900" dirty="0"/>
          </a:p>
        </p:txBody>
      </p:sp>
      <p:sp>
        <p:nvSpPr>
          <p:cNvPr id="43" name="Text 41"/>
          <p:cNvSpPr/>
          <p:nvPr/>
        </p:nvSpPr>
        <p:spPr>
          <a:xfrm>
            <a:off x="676656" y="17647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EBFB6"/>
                </a:solidFill>
              </a:rPr>
              <a:t>The planning workflow still works when the AI provider is unavailable.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58368" y="2743200"/>
            <a:ext cx="1572768" cy="1170432"/>
          </a:xfrm>
          <a:prstGeom prst="hexagon">
            <a:avLst/>
          </a:prstGeom>
          <a:solidFill>
            <a:srgbClr val="17201C"/>
          </a:solidFill>
          <a:ln w="14605">
            <a:solidFill>
              <a:srgbClr val="0F7A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" y="3054096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7A50"/>
                </a:solidFill>
              </a:rPr>
              <a:t>COMMITTED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813816" y="3310128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7D8CF"/>
                </a:solidFill>
              </a:rPr>
              <a:t>snapshot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258568" y="3328416"/>
            <a:ext cx="676656" cy="0"/>
          </a:xfrm>
          <a:prstGeom prst="line">
            <a:avLst/>
          </a:prstGeom>
          <a:noFill/>
          <a:ln w="12700">
            <a:solidFill>
              <a:srgbClr val="6C8377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926080" y="2743200"/>
            <a:ext cx="1572768" cy="1170432"/>
          </a:xfrm>
          <a:prstGeom prst="hexagon">
            <a:avLst/>
          </a:prstGeom>
          <a:solidFill>
            <a:srgbClr val="17201C"/>
          </a:solidFill>
          <a:ln w="14605">
            <a:solidFill>
              <a:srgbClr val="38BD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81528" y="3054096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8BDF8"/>
                </a:solidFill>
              </a:rPr>
              <a:t>MINIMIZED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3081528" y="3310128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7D8CF"/>
                </a:solidFill>
              </a:rPr>
              <a:t>aggregate payload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26280" y="3328416"/>
            <a:ext cx="676656" cy="0"/>
          </a:xfrm>
          <a:prstGeom prst="line">
            <a:avLst/>
          </a:prstGeom>
          <a:noFill/>
          <a:ln w="12700">
            <a:solidFill>
              <a:srgbClr val="6C8377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193792" y="2743200"/>
            <a:ext cx="1572768" cy="1170432"/>
          </a:xfrm>
          <a:prstGeom prst="hexagon">
            <a:avLst/>
          </a:prstGeom>
          <a:solidFill>
            <a:srgbClr val="17201C"/>
          </a:solidFill>
          <a:ln w="14605">
            <a:solidFill>
              <a:srgbClr val="E6A8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49240" y="3054096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6A83B"/>
                </a:solidFill>
              </a:rPr>
              <a:t>GENERATED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5349240" y="3310128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7D8CF"/>
                </a:solidFill>
              </a:rPr>
              <a:t>explanation prose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93992" y="3328416"/>
            <a:ext cx="676656" cy="0"/>
          </a:xfrm>
          <a:prstGeom prst="line">
            <a:avLst/>
          </a:prstGeom>
          <a:noFill/>
          <a:ln w="12700">
            <a:solidFill>
              <a:srgbClr val="6C8377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461504" y="2743200"/>
            <a:ext cx="1572768" cy="1170432"/>
          </a:xfrm>
          <a:prstGeom prst="hexagon">
            <a:avLst/>
          </a:prstGeom>
          <a:solidFill>
            <a:srgbClr val="17201C"/>
          </a:solidFill>
          <a:ln w="14605">
            <a:solidFill>
              <a:srgbClr val="8BD8B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16952" y="3054096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8BD8B0"/>
                </a:solidFill>
              </a:rPr>
              <a:t>VALIDATED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7616952" y="3310128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7D8CF"/>
                </a:solidFill>
              </a:rPr>
              <a:t>schema + snapshot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061704" y="3328416"/>
            <a:ext cx="676656" cy="0"/>
          </a:xfrm>
          <a:prstGeom prst="line">
            <a:avLst/>
          </a:prstGeom>
          <a:noFill/>
          <a:ln w="12700">
            <a:solidFill>
              <a:srgbClr val="6C8377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9729216" y="2743200"/>
            <a:ext cx="1572768" cy="1170432"/>
          </a:xfrm>
          <a:prstGeom prst="hexagon">
            <a:avLst/>
          </a:prstGeom>
          <a:solidFill>
            <a:srgbClr val="17201C"/>
          </a:solidFill>
          <a:ln w="14605">
            <a:solidFill>
              <a:srgbClr val="2563A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84664" y="3054096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A8"/>
                </a:solidFill>
              </a:rPr>
              <a:t>RENDERED</a:t>
            </a:r>
            <a:endParaRPr lang="en-US" sz="880" dirty="0"/>
          </a:p>
        </p:txBody>
      </p:sp>
      <p:sp>
        <p:nvSpPr>
          <p:cNvPr id="62" name="Text 60"/>
          <p:cNvSpPr/>
          <p:nvPr/>
        </p:nvSpPr>
        <p:spPr>
          <a:xfrm>
            <a:off x="9884664" y="3310128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7D8CF"/>
                </a:solidFill>
              </a:rPr>
              <a:t>backend numbers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51560" y="4864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</a:rPr>
              <a:t>Runtime AI is allowed to explain a committed calculation. It is not allowed to become the calculator.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4"/>
          </a:solidFill>
          <a:ln w="12700">
            <a:solidFill>
              <a:srgbClr val="FCFA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B9C7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0F7A50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7680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A50"/>
                </a:solidFill>
              </a:rPr>
              <a:t>VERIFICATION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" y="106984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follows the system boundaries</a:t>
            </a:r>
            <a:endParaRPr lang="en-US" sz="2900" dirty="0"/>
          </a:p>
        </p:txBody>
      </p:sp>
      <p:sp>
        <p:nvSpPr>
          <p:cNvPr id="43" name="Text 41"/>
          <p:cNvSpPr/>
          <p:nvPr/>
        </p:nvSpPr>
        <p:spPr>
          <a:xfrm>
            <a:off x="676656" y="17647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8766F"/>
                </a:solidFill>
              </a:rPr>
              <a:t>The checks focus on calculation correctness, data isolation, persistence, and frontend contracts.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4400" y="25786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21F"/>
                </a:solidFill>
              </a:rPr>
              <a:t>pace golden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606040" y="2606040"/>
            <a:ext cx="6858000" cy="164592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06040" y="2606040"/>
            <a:ext cx="6309360" cy="164592"/>
          </a:xfrm>
          <a:prstGeom prst="rect">
            <a:avLst/>
          </a:prstGeom>
          <a:solidFill>
            <a:srgbClr val="0F7A50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32369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21F"/>
                </a:solidFill>
              </a:rPr>
              <a:t>API + auth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606040" y="3264408"/>
            <a:ext cx="6858000" cy="164592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06040" y="3264408"/>
            <a:ext cx="5760720" cy="1645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389534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21F"/>
                </a:solidFill>
              </a:rPr>
              <a:t>migration smoke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606040" y="3922776"/>
            <a:ext cx="6858000" cy="164592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06040" y="3922776"/>
            <a:ext cx="4937760" cy="164592"/>
          </a:xfrm>
          <a:prstGeom prst="rect">
            <a:avLst/>
          </a:prstGeom>
          <a:solidFill>
            <a:srgbClr val="E6A83B"/>
          </a:solidFill>
          <a:ln w="12700">
            <a:solidFill>
              <a:srgbClr val="E6A8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45537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21F"/>
                </a:solidFill>
              </a:rPr>
              <a:t>frontend checks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606040" y="4581144"/>
            <a:ext cx="6858000" cy="164592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06040" y="4581144"/>
            <a:ext cx="5349240" cy="164592"/>
          </a:xfrm>
          <a:prstGeom prst="rect">
            <a:avLst/>
          </a:prstGeom>
          <a:solidFill>
            <a:srgbClr val="D85F4B"/>
          </a:solidFill>
          <a:ln w="12700">
            <a:solidFill>
              <a:srgbClr val="D85F4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75520" y="2578608"/>
            <a:ext cx="1371600" cy="2788920"/>
          </a:xfrm>
          <a:prstGeom prst="rect">
            <a:avLst/>
          </a:prstGeom>
          <a:solidFill>
            <a:srgbClr val="18221F"/>
          </a:solidFill>
          <a:ln w="12700">
            <a:solidFill>
              <a:srgbClr val="18221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58400" y="2880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A83B"/>
                </a:solidFill>
              </a:rPr>
              <a:t>Known gap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0040112" y="3401568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6F1E7"/>
                </a:solidFill>
              </a:rPr>
              <a:t>Tests prove contracts, not production load.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3"/>
          </a:solidFill>
          <a:ln w="12700">
            <a:solidFill>
              <a:srgbClr val="1014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3241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A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8BD8B0"/>
          </a:solidFill>
          <a:ln w="12700">
            <a:solidFill>
              <a:srgbClr val="8BD8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7680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D8B0"/>
                </a:solidFill>
              </a:rPr>
              <a:t>LIVE DEMO CONTRACT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" y="106984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live demo follows the same path</a:t>
            </a:r>
            <a:endParaRPr lang="en-US" sz="2900" dirty="0"/>
          </a:p>
        </p:txBody>
      </p:sp>
      <p:sp>
        <p:nvSpPr>
          <p:cNvPr id="43" name="Text 41"/>
          <p:cNvSpPr/>
          <p:nvPr/>
        </p:nvSpPr>
        <p:spPr>
          <a:xfrm>
            <a:off x="676656" y="17647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EBFB6"/>
                </a:solidFill>
              </a:rPr>
              <a:t>Show the normal planning flow, one safe failure, and the engineering evidence.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60120" y="265176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A50"/>
                </a:solidFill>
              </a:rPr>
              <a:t>01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960120" y="3127248"/>
            <a:ext cx="2651760" cy="0"/>
          </a:xfrm>
          <a:prstGeom prst="line">
            <a:avLst/>
          </a:prstGeom>
          <a:noFill/>
          <a:ln w="20320">
            <a:solidFill>
              <a:srgbClr val="0F7A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3364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1E7"/>
                </a:solidFill>
              </a:rPr>
              <a:t>Value path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60120" y="37856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1C8"/>
                </a:solidFill>
              </a:rPr>
              <a:t>Load plan and read weekly safe-to-spend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663440" y="265176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A83B"/>
                </a:solidFill>
              </a:rPr>
              <a:t>02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4663440" y="3127248"/>
            <a:ext cx="2651760" cy="0"/>
          </a:xfrm>
          <a:prstGeom prst="line">
            <a:avLst/>
          </a:prstGeom>
          <a:noFill/>
          <a:ln w="20320">
            <a:solidFill>
              <a:srgbClr val="E6A8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3364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1E7"/>
                </a:solidFill>
              </a:rPr>
              <a:t>Failure path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4663440" y="37856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1C8"/>
                </a:solidFill>
              </a:rPr>
              <a:t>Invalid or unauthorized access fails safely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366760" y="265176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03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8366760" y="3127248"/>
            <a:ext cx="2651760" cy="0"/>
          </a:xfrm>
          <a:prstGeom prst="line">
            <a:avLst/>
          </a:prstGeom>
          <a:noFill/>
          <a:ln w="20320">
            <a:solidFill>
              <a:srgbClr val="38BD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66760" y="3364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1E7"/>
                </a:solidFill>
              </a:rPr>
              <a:t>Evidence path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366760" y="37856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1C8"/>
                </a:solidFill>
              </a:rPr>
              <a:t>Show snapshot and test/deploy proof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87552" y="532180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D8B0"/>
                </a:solidFill>
              </a:rPr>
              <a:t>Deck stops here. Product proof starts in the browser.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GoalWise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GoalWise Final Demo - High-End</dc:title>
  <dc:subject>Graduate CS final demo</dc:subject>
  <dc:creator>GoalWise Team</dc:creator>
  <cp:lastModifiedBy>GoalWise Team</cp:lastModifiedBy>
  <cp:revision>1</cp:revision>
  <dcterms:created xsi:type="dcterms:W3CDTF">2026-09-11T02:44:27Z</dcterms:created>
  <dcterms:modified xsi:type="dcterms:W3CDTF">2026-09-11T02:44:27Z</dcterms:modified>
</cp:coreProperties>
</file>